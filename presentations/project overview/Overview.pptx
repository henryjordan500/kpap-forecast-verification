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9" r:id="rId4"/>
    <p:sldId id="265" r:id="rId5"/>
    <p:sldId id="267" r:id="rId6"/>
    <p:sldId id="268" r:id="rId7"/>
    <p:sldId id="266" r:id="rId8"/>
    <p:sldId id="257" r:id="rId9"/>
    <p:sldId id="258" r:id="rId10"/>
    <p:sldId id="270" r:id="rId11"/>
    <p:sldId id="263" r:id="rId12"/>
    <p:sldId id="259" r:id="rId13"/>
    <p:sldId id="271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ACD4-4342-E9DA-F4D9-55A4B32E7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8C284-55CC-F45B-AD3D-53D0E733B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42544-E48C-2116-5E10-B0D9E9842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61FEB-6791-4C3A-192A-194F93C2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DAFC6-0C79-0553-E9A4-7EE0CBE0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1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ADDB3-6155-B27C-29D6-7ED800BE8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4C25A-D3F7-994B-AE66-1760A5363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96C39-CDE7-C904-1593-45FF507E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3E2F5-E969-5D34-A838-01619F6C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992D2-815C-9EBC-FB0A-98A1C81F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4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8004-7EEF-1F89-45E4-48CFDA5E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E5BF8-3FE9-736B-E24C-A6BDF397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B63B3-37BF-9D2D-68E3-2DDAE561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2041C-A1A7-F052-B858-E4FC48F4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E273-DFDA-39DA-4E4D-CE6C5CD0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7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5B6E-620C-4D1B-0E1D-AFCB7779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BE80F-23CE-5181-0DA8-8205F333C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42F6E-1245-D66D-F2FA-FDE706A8B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EB287-3B77-E24B-FB66-43AC804E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78003-A511-1E34-6A43-34500681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8212-BB90-A465-286F-5A0954B5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8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D684-1E9F-86F5-E724-558458E1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AAC98-9B40-EDC4-7C92-8682A442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5AAE6-6BB9-8C37-429C-89FF81E65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2DA05A-55E4-755C-EB00-CC7884268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CE5E8-777C-B343-793D-337DE410E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F089F-D210-6216-48A3-8EC65781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A06815-DB08-AF7B-804E-FC392003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AAB07-3474-3A59-8A94-5475787F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3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CE11-B41F-F09D-602D-669DFB82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7EEDB-91AD-018A-A969-64B504F2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9152B-2267-0E83-0E32-B59F584B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13A36-3B04-42A1-BEE7-CC77E9CA7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3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F7105-D6B5-76D7-A6A6-548FDF3A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61C5B-B7A1-3864-0B3C-4D18643F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11ECB-CA1A-BFA1-F600-793DC9D9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2C6C-0938-C4BA-EF2F-CC90C6AB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CAEF-CE65-651D-1D8D-452CB695B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4B7B9-5774-D24B-E3A3-87280C4AD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93F3A-9A16-7597-B2C2-769DD868C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6D68D-7B73-2F27-10CF-080FA394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10008-6F46-2A06-C8EF-5FF6FA487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8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28A8-9B59-B085-4938-FFAFD518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35FDC-AD2D-61FF-7463-B4BD92016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5D9E9-C40D-FA9F-1204-8FB3ACD6A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B6465-8D4B-5A7A-34D9-214D4CD7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9E813-A1C0-F2DF-BB91-F19D2AA4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F01C-EA4F-8C9D-F15E-9A759ACF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0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DB8C-3EAA-79E8-64C4-EB959631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A8914-319B-FD5C-23B4-1AC42CB37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E0DF-1B52-8428-DCBD-42CB7A15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C6DAC-0644-E6C3-FEB8-4B42DE84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0ED04-93A5-83C9-F55E-28331A68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0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0E3C8C-F469-732D-CF53-730670646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1FE7D-967E-9F2E-3957-AD2F25D41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900A9-9854-F98E-0BD4-C69C1130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1D59A-F9E7-D046-0000-324B9D646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CFD70-2DEC-7226-FB06-72081B2B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5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F00A7-B714-B042-A61E-361399D9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F0DA5-A73F-6CA1-AB10-07E27E8C9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E24A5-5001-291F-5AA1-A9018DC9B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22A3F-D3F2-AA45-8830-56E7FF9E4567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DB8D5-2274-0DB0-8187-A42C23BB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9EF28-F7D1-E3C2-50CC-CC27CCDF0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A8618-E270-954E-8AAA-AB83D36C2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3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ei.noaa.gov/products/space-weather/partners/swpc-products-and-data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3FCC-BE88-288F-22F6-690A75175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Kp/Ap forecast verification paper</a:t>
            </a:r>
          </a:p>
        </p:txBody>
      </p:sp>
    </p:spTree>
    <p:extLst>
      <p:ext uri="{BB962C8B-B14F-4D97-AF65-F5344CB8AC3E}">
        <p14:creationId xmlns:p14="http://schemas.microsoft.com/office/powerpoint/2010/main" val="4044725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2827-7982-CD61-AA94-737A1968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The Kp index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A47097-BDCF-0117-4F80-CBB804D93750}"/>
              </a:ext>
            </a:extLst>
          </p:cNvPr>
          <p:cNvSpPr txBox="1"/>
          <p:nvPr/>
        </p:nvSpPr>
        <p:spPr>
          <a:xfrm>
            <a:off x="474812" y="2076137"/>
            <a:ext cx="6120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Kp is a geomagnetic index designed to measure subauroral geomagnetic disturbance on a global scale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02EAC-B1F4-4A0F-28AC-3CE951AF7C86}"/>
              </a:ext>
            </a:extLst>
          </p:cNvPr>
          <p:cNvSpPr txBox="1"/>
          <p:nvPr/>
        </p:nvSpPr>
        <p:spPr>
          <a:xfrm>
            <a:off x="4706375" y="2971720"/>
            <a:ext cx="644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Kp utilizes quasi-logarithmic scale from 0 to 9 in 27 increments. Given either as 1.00, 1.33, 1.67 … or 1o, 1+, 2-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843572-B514-DE87-D62F-9BE0E136DD68}"/>
              </a:ext>
            </a:extLst>
          </p:cNvPr>
          <p:cNvSpPr txBox="1"/>
          <p:nvPr/>
        </p:nvSpPr>
        <p:spPr>
          <a:xfrm>
            <a:off x="474812" y="5358525"/>
            <a:ext cx="386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Kp available continuously since 1932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08BE89-B108-E964-C764-E71CAD18D9E5}"/>
              </a:ext>
            </a:extLst>
          </p:cNvPr>
          <p:cNvSpPr txBox="1"/>
          <p:nvPr/>
        </p:nvSpPr>
        <p:spPr>
          <a:xfrm>
            <a:off x="313964" y="3822675"/>
            <a:ext cx="543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Each day is divided into 8, 3-hour intervals and one Kp value is given for each interval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864B936-ACD7-E790-ED35-3D879FCA4478}"/>
              </a:ext>
            </a:extLst>
          </p:cNvPr>
          <p:cNvGrpSpPr/>
          <p:nvPr/>
        </p:nvGrpSpPr>
        <p:grpSpPr>
          <a:xfrm>
            <a:off x="5438570" y="5044970"/>
            <a:ext cx="6278618" cy="818495"/>
            <a:chOff x="4240526" y="3982431"/>
            <a:chExt cx="7772400" cy="81655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5F11DA8-0DC5-6F63-4F38-C155C4E27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3903" b="60444"/>
            <a:stretch>
              <a:fillRect/>
            </a:stretch>
          </p:blipFill>
          <p:spPr>
            <a:xfrm>
              <a:off x="4240526" y="3982431"/>
              <a:ext cx="7772400" cy="34343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BAA5F36-4EDB-C509-5AA4-123075781B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7210"/>
            <a:stretch>
              <a:fillRect/>
            </a:stretch>
          </p:blipFill>
          <p:spPr>
            <a:xfrm>
              <a:off x="4240526" y="4298966"/>
              <a:ext cx="7772400" cy="500020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6AD7996-C922-B30A-3B47-D30AC4FBDEE1}"/>
              </a:ext>
            </a:extLst>
          </p:cNvPr>
          <p:cNvSpPr txBox="1"/>
          <p:nvPr/>
        </p:nvSpPr>
        <p:spPr>
          <a:xfrm>
            <a:off x="7155712" y="4649616"/>
            <a:ext cx="2601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Distribution of Kp values</a:t>
            </a:r>
          </a:p>
        </p:txBody>
      </p:sp>
    </p:spTree>
    <p:extLst>
      <p:ext uri="{BB962C8B-B14F-4D97-AF65-F5344CB8AC3E}">
        <p14:creationId xmlns:p14="http://schemas.microsoft.com/office/powerpoint/2010/main" val="3649549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9035-CF66-B722-8136-67FACD7B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Kp is Calculated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720D57-B069-B8D7-162A-F67E7719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79" y="279254"/>
            <a:ext cx="5568496" cy="42983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A32F4F-7AB3-E135-FA05-22B37E0C4234}"/>
              </a:ext>
            </a:extLst>
          </p:cNvPr>
          <p:cNvSpPr txBox="1"/>
          <p:nvPr/>
        </p:nvSpPr>
        <p:spPr>
          <a:xfrm>
            <a:off x="9600275" y="6209414"/>
            <a:ext cx="21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J. </a:t>
            </a:r>
            <a:r>
              <a:rPr lang="en-US" dirty="0" err="1"/>
              <a:t>Matzka</a:t>
            </a:r>
            <a:r>
              <a:rPr lang="en-US" dirty="0"/>
              <a:t> et. al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90CD3-96BA-1AD4-526A-3056EE9F5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179" y="4558560"/>
            <a:ext cx="5423809" cy="1531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DF6FBE-D50E-15E5-67F9-9BF9D2582792}"/>
                  </a:ext>
                </a:extLst>
              </p:cNvPr>
              <p:cNvSpPr txBox="1"/>
              <p:nvPr/>
            </p:nvSpPr>
            <p:spPr>
              <a:xfrm>
                <a:off x="648586" y="2052084"/>
                <a:ext cx="5547160" cy="1499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Each station take a continuous magnetometer reading in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 directions. This reading is divided into 3-hour intervals and the difference between the maximum and minimum value,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lang="en-US" dirty="0"/>
                  <a:t>is computed or each interval.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DF6FBE-D50E-15E5-67F9-9BF9D2582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86" y="2052084"/>
                <a:ext cx="5547160" cy="1499257"/>
              </a:xfrm>
              <a:prstGeom prst="rect">
                <a:avLst/>
              </a:prstGeom>
              <a:blipFill>
                <a:blip r:embed="rId4"/>
                <a:stretch>
                  <a:fillRect l="-685" t="-1681" r="-182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38D4EE-1F8B-8BFE-460B-4B722953ADF5}"/>
                  </a:ext>
                </a:extLst>
              </p:cNvPr>
              <p:cNvSpPr txBox="1"/>
              <p:nvPr/>
            </p:nvSpPr>
            <p:spPr>
              <a:xfrm>
                <a:off x="680454" y="3957047"/>
                <a:ext cx="55152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table is then used to convert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to K. Each station utilizes a different table to account for the station’s proximity to the auroral zones. Stations closer to the auroral zones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38D4EE-1F8B-8BFE-460B-4B722953A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54" y="3957047"/>
                <a:ext cx="5515292" cy="1200329"/>
              </a:xfrm>
              <a:prstGeom prst="rect">
                <a:avLst/>
              </a:prstGeom>
              <a:blipFill>
                <a:blip r:embed="rId5"/>
                <a:stretch>
                  <a:fillRect l="-920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D8ED2BC-C292-85B7-FC17-6958689E2437}"/>
              </a:ext>
            </a:extLst>
          </p:cNvPr>
          <p:cNvSpPr txBox="1"/>
          <p:nvPr/>
        </p:nvSpPr>
        <p:spPr>
          <a:xfrm>
            <a:off x="549506" y="5563083"/>
            <a:ext cx="5320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A weighted average of all stations K values is used to compute the planetary K index, Kp</a:t>
            </a:r>
          </a:p>
        </p:txBody>
      </p:sp>
    </p:spTree>
    <p:extLst>
      <p:ext uri="{BB962C8B-B14F-4D97-AF65-F5344CB8AC3E}">
        <p14:creationId xmlns:p14="http://schemas.microsoft.com/office/powerpoint/2010/main" val="319259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93FB-EF91-1066-718E-FACC7B12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 Stations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3D3E9-584D-CC34-DBE0-DE1C77A6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60" y="2988987"/>
            <a:ext cx="5394216" cy="3220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B82F80-469C-A253-8D3A-66A9DDF1F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20" y="2639926"/>
            <a:ext cx="5216422" cy="3493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2CFB55-FBC7-BA9D-5407-82B467590635}"/>
              </a:ext>
            </a:extLst>
          </p:cNvPr>
          <p:cNvSpPr txBox="1"/>
          <p:nvPr/>
        </p:nvSpPr>
        <p:spPr>
          <a:xfrm>
            <a:off x="376020" y="1744885"/>
            <a:ext cx="5041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13 magnetometer stations at subauroral latitudes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9690B-1B43-6B64-33A4-DAF0A99857B5}"/>
              </a:ext>
            </a:extLst>
          </p:cNvPr>
          <p:cNvSpPr txBox="1"/>
          <p:nvPr/>
        </p:nvSpPr>
        <p:spPr>
          <a:xfrm>
            <a:off x="9600275" y="6209414"/>
            <a:ext cx="21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J. </a:t>
            </a:r>
            <a:r>
              <a:rPr lang="en-US" dirty="0" err="1"/>
              <a:t>Matzka</a:t>
            </a:r>
            <a:r>
              <a:rPr lang="en-US" dirty="0"/>
              <a:t> et. al 2021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4830E-BECD-B6CB-26EA-FB7E8A3015AC}"/>
              </a:ext>
            </a:extLst>
          </p:cNvPr>
          <p:cNvSpPr txBox="1"/>
          <p:nvPr/>
        </p:nvSpPr>
        <p:spPr>
          <a:xfrm>
            <a:off x="7070651" y="1795975"/>
            <a:ext cx="3403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Four stations are weighted at 0.5</a:t>
            </a:r>
          </a:p>
        </p:txBody>
      </p:sp>
    </p:spTree>
    <p:extLst>
      <p:ext uri="{BB962C8B-B14F-4D97-AF65-F5344CB8AC3E}">
        <p14:creationId xmlns:p14="http://schemas.microsoft.com/office/powerpoint/2010/main" val="198746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DF32E-7B9A-FCC9-77D5-F6165928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 vs. ap vs. 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6E67A-664E-28F2-669C-05A70D07A2F9}"/>
              </a:ext>
            </a:extLst>
          </p:cNvPr>
          <p:cNvSpPr txBox="1"/>
          <p:nvPr/>
        </p:nvSpPr>
        <p:spPr>
          <a:xfrm>
            <a:off x="446567" y="1952820"/>
            <a:ext cx="4092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 is a linearized Kp on a 0 to 400 scale. Most often regarded as unitless but can be interpreted to have unit of 2 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1062F-BB33-2C17-68E6-8DAA44E251B2}"/>
              </a:ext>
            </a:extLst>
          </p:cNvPr>
          <p:cNvSpPr txBox="1"/>
          <p:nvPr/>
        </p:nvSpPr>
        <p:spPr>
          <a:xfrm>
            <a:off x="555088" y="4280797"/>
            <a:ext cx="409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Ap is the mean of each days 8 ap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0E9A5-949D-B32D-4499-59BCE460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232" y="905641"/>
            <a:ext cx="6682049" cy="46321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C5A511-714A-3442-6DB1-5F8D8CE645D0}"/>
              </a:ext>
            </a:extLst>
          </p:cNvPr>
          <p:cNvSpPr txBox="1"/>
          <p:nvPr/>
        </p:nvSpPr>
        <p:spPr>
          <a:xfrm>
            <a:off x="9579010" y="6123543"/>
            <a:ext cx="21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J. </a:t>
            </a:r>
            <a:r>
              <a:rPr lang="en-US" dirty="0" err="1"/>
              <a:t>Matzka</a:t>
            </a:r>
            <a:r>
              <a:rPr lang="en-US" dirty="0"/>
              <a:t> et. al 2021</a:t>
            </a:r>
          </a:p>
        </p:txBody>
      </p:sp>
    </p:spTree>
    <p:extLst>
      <p:ext uri="{BB962C8B-B14F-4D97-AF65-F5344CB8AC3E}">
        <p14:creationId xmlns:p14="http://schemas.microsoft.com/office/powerpoint/2010/main" val="13480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0928-AA21-6ED2-1157-D725FACF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 of Kp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99609C-9756-46BB-14B2-3A28163DFFCA}"/>
              </a:ext>
            </a:extLst>
          </p:cNvPr>
          <p:cNvSpPr txBox="1"/>
          <p:nvPr/>
        </p:nvSpPr>
        <p:spPr>
          <a:xfrm>
            <a:off x="838200" y="2228671"/>
            <a:ext cx="5987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Due to long term variation of earths geomagnetic field, the auroral zones have shifted slightly away from the magnetometer stations causing a negative Kp bias of approximately 1/3 of a unit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2B272-298A-5958-D55B-E29C7E6093E9}"/>
              </a:ext>
            </a:extLst>
          </p:cNvPr>
          <p:cNvSpPr txBox="1"/>
          <p:nvPr/>
        </p:nvSpPr>
        <p:spPr>
          <a:xfrm>
            <a:off x="1129691" y="4195944"/>
            <a:ext cx="6062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During the equatorial maximums (April and October) the earths geomagnetic field has a stronger alignment with the incoming geomagnetic storms, leading to a seasonal variation of up to 1 unit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674746-7F6B-EC54-C2EF-4CE3418C2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939" y="2296536"/>
            <a:ext cx="4084671" cy="3877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CAA841-D9D5-13D5-D55C-72E5E3128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9406"/>
            <a:ext cx="5816600" cy="1397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2C2BFC-3F90-0598-19F2-BFA4E29E3ACF}"/>
              </a:ext>
            </a:extLst>
          </p:cNvPr>
          <p:cNvSpPr txBox="1"/>
          <p:nvPr/>
        </p:nvSpPr>
        <p:spPr>
          <a:xfrm>
            <a:off x="9600275" y="6209414"/>
            <a:ext cx="2159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J. </a:t>
            </a:r>
            <a:r>
              <a:rPr lang="en-US" dirty="0" err="1"/>
              <a:t>Matzka</a:t>
            </a:r>
            <a:r>
              <a:rPr lang="en-US" dirty="0"/>
              <a:t> et. al 2021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E87195-83BE-5C2C-73AC-C794DF3D3755}"/>
              </a:ext>
            </a:extLst>
          </p:cNvPr>
          <p:cNvSpPr txBox="1"/>
          <p:nvPr/>
        </p:nvSpPr>
        <p:spPr>
          <a:xfrm>
            <a:off x="2448888" y="6145619"/>
            <a:ext cx="4926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My own plot showing average Kp for each month</a:t>
            </a:r>
          </a:p>
        </p:txBody>
      </p:sp>
    </p:spTree>
    <p:extLst>
      <p:ext uri="{BB962C8B-B14F-4D97-AF65-F5344CB8AC3E}">
        <p14:creationId xmlns:p14="http://schemas.microsoft.com/office/powerpoint/2010/main" val="72356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C99B-718A-126E-90D6-8BAEBAF3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of Kp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3B44D-F550-46E4-F1A3-4249C6D29644}"/>
              </a:ext>
            </a:extLst>
          </p:cNvPr>
          <p:cNvSpPr txBox="1"/>
          <p:nvPr/>
        </p:nvSpPr>
        <p:spPr>
          <a:xfrm>
            <a:off x="706836" y="5248965"/>
            <a:ext cx="8521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Used as a forcing to drive large geophysical models such as WAM-IPE and WACCM-X</a:t>
            </a:r>
          </a:p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5B782-8CFB-6CDF-E058-52DE66620AF9}"/>
              </a:ext>
            </a:extLst>
          </p:cNvPr>
          <p:cNvSpPr txBox="1"/>
          <p:nvPr/>
        </p:nvSpPr>
        <p:spPr>
          <a:xfrm>
            <a:off x="739954" y="2264962"/>
            <a:ext cx="4693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by SWPC for determining/forecasting geomagnetic storm intensity</a:t>
            </a:r>
          </a:p>
          <a:p>
            <a:pPr algn="l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84F927-EF0A-4E04-6912-23AE64F9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717" y="293578"/>
            <a:ext cx="6319869" cy="4275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71786B-0D25-F700-358E-71C68D257874}"/>
              </a:ext>
            </a:extLst>
          </p:cNvPr>
          <p:cNvSpPr txBox="1"/>
          <p:nvPr/>
        </p:nvSpPr>
        <p:spPr>
          <a:xfrm>
            <a:off x="739954" y="3669709"/>
            <a:ext cx="422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Used by SWPC for issuing geomagnetic storm advisories and warning s</a:t>
            </a:r>
          </a:p>
        </p:txBody>
      </p:sp>
    </p:spTree>
    <p:extLst>
      <p:ext uri="{BB962C8B-B14F-4D97-AF65-F5344CB8AC3E}">
        <p14:creationId xmlns:p14="http://schemas.microsoft.com/office/powerpoint/2010/main" val="205887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2E30-DF61-BC05-7931-E4FC5060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 for Kp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22E33-8546-F5C5-552D-3F5DA5613BD7}"/>
              </a:ext>
            </a:extLst>
          </p:cNvPr>
          <p:cNvSpPr txBox="1"/>
          <p:nvPr/>
        </p:nvSpPr>
        <p:spPr>
          <a:xfrm>
            <a:off x="1137684" y="2204963"/>
            <a:ext cx="954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Definitive Kp is provided by the Helmholtz Centre for Geoscience (GFZ) on a semimonthly basis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2F7EE-051F-68E0-14A0-01DF2657204A}"/>
              </a:ext>
            </a:extLst>
          </p:cNvPr>
          <p:cNvSpPr txBox="1"/>
          <p:nvPr/>
        </p:nvSpPr>
        <p:spPr>
          <a:xfrm>
            <a:off x="595423" y="3609809"/>
            <a:ext cx="10420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Nowcast Kp is also provided by GFZ. Nowcast Kp can change for a few days after the measurement 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F02EF-61F0-AC7A-7DBC-5796EA4C0F06}"/>
              </a:ext>
            </a:extLst>
          </p:cNvPr>
          <p:cNvSpPr txBox="1"/>
          <p:nvPr/>
        </p:nvSpPr>
        <p:spPr>
          <a:xfrm>
            <a:off x="838200" y="5199321"/>
            <a:ext cx="569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Nowcast Kp is almost always correct within 1/3 of a unit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BDB044-6A6B-9E01-0F55-F75C82F7E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662" y="4313162"/>
            <a:ext cx="4527845" cy="231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032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496B-4E0D-E317-802C-E4EEA1107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SWPC Forecast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F824D-061C-3FA4-A6AB-CFA81C688174}"/>
              </a:ext>
            </a:extLst>
          </p:cNvPr>
          <p:cNvSpPr txBox="1"/>
          <p:nvPr/>
        </p:nvSpPr>
        <p:spPr>
          <a:xfrm>
            <a:off x="944526" y="1721574"/>
            <a:ext cx="55944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NOAA’s Space Weather Prediction Center is responsible for releasing national forecasts and alerts for geomagnetic storms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F253A-28EF-A505-CD92-A52B2719D1E1}"/>
              </a:ext>
            </a:extLst>
          </p:cNvPr>
          <p:cNvSpPr txBox="1"/>
          <p:nvPr/>
        </p:nvSpPr>
        <p:spPr>
          <a:xfrm>
            <a:off x="626434" y="2988682"/>
            <a:ext cx="5469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SWPC releases a variety of reports containing information and forecasts ranging from solar active regions, solar flares, and geomagnetic storms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175B5-FEFA-7C5B-8BC1-1E841150869A}"/>
              </a:ext>
            </a:extLst>
          </p:cNvPr>
          <p:cNvSpPr txBox="1"/>
          <p:nvPr/>
        </p:nvSpPr>
        <p:spPr>
          <a:xfrm>
            <a:off x="349103" y="4392756"/>
            <a:ext cx="5296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SWPC releases a 72-hour Kp forecast in the “3-day Geomagnetic Forecast” (Nov 2022-Present) and the ”3-day Forecast” (Mar 2022-Present) products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107E7-2B71-4D4A-2CFC-7274DE7BDE8A}"/>
              </a:ext>
            </a:extLst>
          </p:cNvPr>
          <p:cNvSpPr txBox="1"/>
          <p:nvPr/>
        </p:nvSpPr>
        <p:spPr>
          <a:xfrm>
            <a:off x="435049" y="5711217"/>
            <a:ext cx="6613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We also utilize some historical SWPC data which Andong got from somewhere containing a 7-day Kp forecast (2011-2025)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4CA0CC-8E82-FEEF-69CA-15A088D2E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379" y="857702"/>
            <a:ext cx="4783452" cy="45542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76AD22-286B-05CA-0CD0-211A34831929}"/>
              </a:ext>
            </a:extLst>
          </p:cNvPr>
          <p:cNvSpPr txBox="1"/>
          <p:nvPr/>
        </p:nvSpPr>
        <p:spPr>
          <a:xfrm>
            <a:off x="8249173" y="5612239"/>
            <a:ext cx="350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All active SWPC products. </a:t>
            </a:r>
            <a:r>
              <a:rPr lang="en-US" sz="1200" dirty="0">
                <a:hlinkClick r:id="rId3"/>
              </a:rPr>
              <a:t>https://www.ncei.noaa.gov/products/space-weather/partners/swpc-products-and-data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730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4960DA-D39A-A332-E3E3-01C4F7800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750" y="753357"/>
            <a:ext cx="2745604" cy="48909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787EC2-3C11-B698-03AF-5C570AC86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59" y="1061999"/>
            <a:ext cx="5797122" cy="44256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0C3B59-D544-536A-B531-522D94D5E4AC}"/>
              </a:ext>
            </a:extLst>
          </p:cNvPr>
          <p:cNvSpPr txBox="1"/>
          <p:nvPr/>
        </p:nvSpPr>
        <p:spPr>
          <a:xfrm>
            <a:off x="1488557" y="384025"/>
            <a:ext cx="3699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NOAA 3-day Geomagnetic Forecast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06906-9735-FD67-5C65-7269CB11B378}"/>
              </a:ext>
            </a:extLst>
          </p:cNvPr>
          <p:cNvSpPr txBox="1"/>
          <p:nvPr/>
        </p:nvSpPr>
        <p:spPr>
          <a:xfrm>
            <a:off x="8230646" y="199359"/>
            <a:ext cx="2307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NOAA 3-day Forecast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1F3E-C76B-FC16-ECC0-E27502DDAEA8}"/>
              </a:ext>
            </a:extLst>
          </p:cNvPr>
          <p:cNvSpPr txBox="1"/>
          <p:nvPr/>
        </p:nvSpPr>
        <p:spPr>
          <a:xfrm>
            <a:off x="2103116" y="6104643"/>
            <a:ext cx="6305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Use some code (Claude) to extract relevant data from text files</a:t>
            </a:r>
          </a:p>
        </p:txBody>
      </p:sp>
    </p:spTree>
    <p:extLst>
      <p:ext uri="{BB962C8B-B14F-4D97-AF65-F5344CB8AC3E}">
        <p14:creationId xmlns:p14="http://schemas.microsoft.com/office/powerpoint/2010/main" val="262631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F8E4-83C5-A551-9B4E-EB33DC89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Availability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7FA07-1233-78D3-D5AC-A5E5B3C6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96" y="2861886"/>
            <a:ext cx="5039289" cy="33558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50805F-2C60-C135-22C6-BBFABAE0F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585" y="3797427"/>
            <a:ext cx="6888848" cy="16336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CEA247-3C75-8FD1-2F46-DAFA8AFE887D}"/>
              </a:ext>
            </a:extLst>
          </p:cNvPr>
          <p:cNvSpPr txBox="1"/>
          <p:nvPr/>
        </p:nvSpPr>
        <p:spPr>
          <a:xfrm>
            <a:off x="181296" y="1435395"/>
            <a:ext cx="681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3-Day Forecast is released twice per day at 0030UTC and 1230UTC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BF7DF-4888-6D42-BBFB-67A11B3607FC}"/>
              </a:ext>
            </a:extLst>
          </p:cNvPr>
          <p:cNvSpPr txBox="1"/>
          <p:nvPr/>
        </p:nvSpPr>
        <p:spPr>
          <a:xfrm>
            <a:off x="7315201" y="2691241"/>
            <a:ext cx="3763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Significant downtime (~25% of total)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D2534-ABE4-1202-F925-D3346E0C49A4}"/>
              </a:ext>
            </a:extLst>
          </p:cNvPr>
          <p:cNvSpPr txBox="1"/>
          <p:nvPr/>
        </p:nvSpPr>
        <p:spPr>
          <a:xfrm>
            <a:off x="574158" y="2172249"/>
            <a:ext cx="5715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3-Day Geomagnetic Forecast released daily at 2205UTC</a:t>
            </a:r>
          </a:p>
        </p:txBody>
      </p:sp>
    </p:spTree>
    <p:extLst>
      <p:ext uri="{BB962C8B-B14F-4D97-AF65-F5344CB8AC3E}">
        <p14:creationId xmlns:p14="http://schemas.microsoft.com/office/powerpoint/2010/main" val="327672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5E1-7864-10D1-30C0-81FC229D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make the forecast</a:t>
            </a:r>
          </a:p>
        </p:txBody>
      </p:sp>
      <p:pic>
        <p:nvPicPr>
          <p:cNvPr id="4" name="Google Shape;290;p51">
            <a:extLst>
              <a:ext uri="{FF2B5EF4-FFF2-40B4-BE49-F238E27FC236}">
                <a16:creationId xmlns:a16="http://schemas.microsoft.com/office/drawing/2014/main" id="{A913F5E6-4EBD-B342-DB57-DB1FB578328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5362" y="1520567"/>
            <a:ext cx="7606638" cy="35180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18C36-F6A9-016A-C37D-86C178B0377B}"/>
              </a:ext>
            </a:extLst>
          </p:cNvPr>
          <p:cNvSpPr txBox="1"/>
          <p:nvPr/>
        </p:nvSpPr>
        <p:spPr>
          <a:xfrm>
            <a:off x="7208874" y="5422605"/>
            <a:ext cx="3989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Internal SWPC Forecasting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2351E-7973-F00E-568F-B2BB2CA4030D}"/>
              </a:ext>
            </a:extLst>
          </p:cNvPr>
          <p:cNvSpPr txBox="1"/>
          <p:nvPr/>
        </p:nvSpPr>
        <p:spPr>
          <a:xfrm>
            <a:off x="574158" y="2275368"/>
            <a:ext cx="2818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Utilize human forecasters interpreting climatology, persistence, recurrence, and potentially some kind of physical forecast </a:t>
            </a:r>
          </a:p>
        </p:txBody>
      </p:sp>
    </p:spTree>
    <p:extLst>
      <p:ext uri="{BB962C8B-B14F-4D97-AF65-F5344CB8AC3E}">
        <p14:creationId xmlns:p14="http://schemas.microsoft.com/office/powerpoint/2010/main" val="3315822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C002-0A7E-AC48-8DE1-D0CDE6DF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Forecasts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402D-B492-7B39-4516-3542C41E4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Persistence</a:t>
            </a:r>
          </a:p>
          <a:p>
            <a:r>
              <a:rPr lang="en-US" dirty="0"/>
              <a:t>27-day Recurrence</a:t>
            </a:r>
          </a:p>
          <a:p>
            <a:r>
              <a:rPr lang="en-US"/>
              <a:t>Climatology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071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E71F-14F5-37C6-1D4A-CC121DDE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FF0C-49E1-9759-703E-83009D330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everything in ap?</a:t>
            </a:r>
          </a:p>
          <a:p>
            <a:r>
              <a:rPr lang="en-US" dirty="0"/>
              <a:t>Overall RMSE</a:t>
            </a:r>
          </a:p>
          <a:p>
            <a:r>
              <a:rPr lang="en-US" dirty="0"/>
              <a:t>Classification of G1+ and G2+</a:t>
            </a:r>
          </a:p>
          <a:p>
            <a:r>
              <a:rPr lang="en-US" dirty="0"/>
              <a:t>Storm time</a:t>
            </a:r>
          </a:p>
          <a:p>
            <a:r>
              <a:rPr lang="en-US" dirty="0"/>
              <a:t>Storm onset</a:t>
            </a:r>
          </a:p>
          <a:p>
            <a:r>
              <a:rPr lang="en-US" dirty="0"/>
              <a:t>Storm recovery?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12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34145</TotalTime>
  <Words>641</Words>
  <Application>Microsoft Macintosh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Kp/Ap forecast verification paper</vt:lpstr>
      <vt:lpstr> The Kp index</vt:lpstr>
      <vt:lpstr>How Kp is Calculated</vt:lpstr>
      <vt:lpstr>Kp Stations</vt:lpstr>
      <vt:lpstr>Kp vs. ap vs. Ap</vt:lpstr>
      <vt:lpstr>Variation of Kp</vt:lpstr>
      <vt:lpstr>Utility of Kp</vt:lpstr>
      <vt:lpstr>Data Source for Kp</vt:lpstr>
      <vt:lpstr>SWPC Forecast overview</vt:lpstr>
      <vt:lpstr>PowerPoint Presentation</vt:lpstr>
      <vt:lpstr>Forecast Availability</vt:lpstr>
      <vt:lpstr>How they make the forecast</vt:lpstr>
      <vt:lpstr>Baseline Forecasts</vt:lpstr>
      <vt:lpstr>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Jordan</dc:creator>
  <cp:lastModifiedBy>Henry Jordan</cp:lastModifiedBy>
  <cp:revision>3</cp:revision>
  <dcterms:created xsi:type="dcterms:W3CDTF">2026-06-01T20:19:06Z</dcterms:created>
  <dcterms:modified xsi:type="dcterms:W3CDTF">2026-06-30T12:44:55Z</dcterms:modified>
</cp:coreProperties>
</file>