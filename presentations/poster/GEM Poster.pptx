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B7A497-C820-E14A-B9CC-325DE6049EEC}" type="datetimeFigureOut">
              <a:rPr lang="en-US" smtClean="0"/>
              <a:t>7/7/26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14961E-1DF1-CF4D-B58F-BAB5637AAC91}" type="slidenum">
              <a:rPr lang="en-US" smtClean="0"/>
              <a:t>‹#›</a:t>
            </a:fld>
            <a:endParaRPr lang="en-US"/>
          </a:p>
        </p:txBody>
      </p:sp>
    </p:spTree>
    <p:extLst>
      <p:ext uri="{BB962C8B-B14F-4D97-AF65-F5344CB8AC3E}">
        <p14:creationId xmlns:p14="http://schemas.microsoft.com/office/powerpoint/2010/main" val="481946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CustomShape 1"/>
          <p:cNvSpPr/>
          <p:nvPr/>
        </p:nvSpPr>
        <p:spPr>
          <a:xfrm>
            <a:off x="16889400" y="40227120"/>
            <a:ext cx="12917880" cy="2110320"/>
          </a:xfrm>
          <a:prstGeom prst="rect">
            <a:avLst/>
          </a:prstGeom>
          <a:noFill/>
          <a:ln w="0">
            <a:noFill/>
          </a:ln>
        </p:spPr>
        <p:style>
          <a:lnRef idx="0">
            <a:scrgbClr r="0" g="0" b="0"/>
          </a:lnRef>
          <a:fillRef idx="0">
            <a:scrgbClr r="0" g="0" b="0"/>
          </a:fillRef>
          <a:effectRef idx="0">
            <a:scrgbClr r="0" g="0" b="0"/>
          </a:effectRef>
          <a:fontRef idx="minor"/>
        </p:style>
        <p:txBody>
          <a:bodyPr lIns="412200" tIns="206280" rIns="412200" bIns="206280" anchor="b">
            <a:noAutofit/>
          </a:bodyPr>
          <a:lstStyle/>
          <a:p>
            <a:pPr algn="r">
              <a:lnSpc>
                <a:spcPct val="100000"/>
              </a:lnSpc>
              <a:buNone/>
            </a:pPr>
            <a:fld id="{AF6E15F7-A184-436F-A527-142B200CA198}" type="slidenum">
              <a:rPr lang="en-US" sz="5400" b="0" strike="noStrike" spc="-1">
                <a:solidFill>
                  <a:srgbClr val="000000"/>
                </a:solidFill>
                <a:latin typeface="Arial"/>
                <a:ea typeface="+mn-ea"/>
              </a:rPr>
              <a:t>1</a:t>
            </a:fld>
            <a:endParaRPr lang="en-US" sz="5400" b="0" strike="noStrike" spc="-1">
              <a:latin typeface="Arial"/>
            </a:endParaRPr>
          </a:p>
        </p:txBody>
      </p:sp>
      <p:sp>
        <p:nvSpPr>
          <p:cNvPr id="90" name="PlaceHolder 1"/>
          <p:cNvSpPr>
            <a:spLocks noGrp="1" noRot="1" noChangeAspect="1"/>
          </p:cNvSpPr>
          <p:nvPr>
            <p:ph type="sldImg"/>
          </p:nvPr>
        </p:nvSpPr>
        <p:spPr>
          <a:xfrm>
            <a:off x="806450" y="3179763"/>
            <a:ext cx="28214638" cy="15871825"/>
          </a:xfrm>
          <a:prstGeom prst="rect">
            <a:avLst/>
          </a:prstGeom>
          <a:ln w="0">
            <a:noFill/>
          </a:ln>
        </p:spPr>
        <p:txBody>
          <a:bodyPr/>
          <a:lstStyle/>
          <a:p>
            <a:endParaRPr lang="en-US"/>
          </a:p>
        </p:txBody>
      </p:sp>
      <p:sp>
        <p:nvSpPr>
          <p:cNvPr id="91" name="PlaceHolder 2"/>
          <p:cNvSpPr>
            <a:spLocks noGrp="1"/>
          </p:cNvSpPr>
          <p:nvPr>
            <p:ph type="body"/>
          </p:nvPr>
        </p:nvSpPr>
        <p:spPr>
          <a:xfrm>
            <a:off x="2979720" y="20113560"/>
            <a:ext cx="23854320" cy="19050480"/>
          </a:xfrm>
          <a:prstGeom prst="rect">
            <a:avLst/>
          </a:prstGeom>
          <a:noFill/>
          <a:ln w="0">
            <a:noFill/>
          </a:ln>
        </p:spPr>
        <p:txBody>
          <a:bodyPr lIns="412200" tIns="206280" rIns="412200" bIns="206280" anchor="t">
            <a:noAutofit/>
          </a:bodyPr>
          <a:lstStyle/>
          <a:p>
            <a:endParaRPr lang="en-US" sz="2000" b="0" strike="noStrike" spc="-1">
              <a:latin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BDACB-60F1-BA77-5BAD-F245F72281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5EF85FD-A2FF-A6B7-1831-D4CC3F6ABA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9DD846-7FB8-1BCB-6EC0-F4D9E599FD3F}"/>
              </a:ext>
            </a:extLst>
          </p:cNvPr>
          <p:cNvSpPr>
            <a:spLocks noGrp="1"/>
          </p:cNvSpPr>
          <p:nvPr>
            <p:ph type="dt" sz="half" idx="10"/>
          </p:nvPr>
        </p:nvSpPr>
        <p:spPr/>
        <p:txBody>
          <a:bodyPr/>
          <a:lstStyle/>
          <a:p>
            <a:fld id="{503B3556-4ADD-F549-8CC1-52A7ECDCF209}" type="datetimeFigureOut">
              <a:rPr lang="en-US" smtClean="0"/>
              <a:t>7/7/26</a:t>
            </a:fld>
            <a:endParaRPr lang="en-US"/>
          </a:p>
        </p:txBody>
      </p:sp>
      <p:sp>
        <p:nvSpPr>
          <p:cNvPr id="5" name="Footer Placeholder 4">
            <a:extLst>
              <a:ext uri="{FF2B5EF4-FFF2-40B4-BE49-F238E27FC236}">
                <a16:creationId xmlns:a16="http://schemas.microsoft.com/office/drawing/2014/main" id="{245C457B-0D18-9B97-C293-75C75C05D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E0DB8F-57A7-AFD9-9DD4-E25CC1969380}"/>
              </a:ext>
            </a:extLst>
          </p:cNvPr>
          <p:cNvSpPr>
            <a:spLocks noGrp="1"/>
          </p:cNvSpPr>
          <p:nvPr>
            <p:ph type="sldNum" sz="quarter" idx="12"/>
          </p:nvPr>
        </p:nvSpPr>
        <p:spPr/>
        <p:txBody>
          <a:bodyPr/>
          <a:lstStyle/>
          <a:p>
            <a:fld id="{1AC9966F-4599-804E-8DC2-B8DA080F0299}" type="slidenum">
              <a:rPr lang="en-US" smtClean="0"/>
              <a:t>‹#›</a:t>
            </a:fld>
            <a:endParaRPr lang="en-US"/>
          </a:p>
        </p:txBody>
      </p:sp>
    </p:spTree>
    <p:extLst>
      <p:ext uri="{BB962C8B-B14F-4D97-AF65-F5344CB8AC3E}">
        <p14:creationId xmlns:p14="http://schemas.microsoft.com/office/powerpoint/2010/main" val="682924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9156F-27FD-A2D6-48FB-224C26CEEA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5932FE-E5DE-4C03-78C7-12471090287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3523D6-B923-E30D-E37A-D53C85161A8F}"/>
              </a:ext>
            </a:extLst>
          </p:cNvPr>
          <p:cNvSpPr>
            <a:spLocks noGrp="1"/>
          </p:cNvSpPr>
          <p:nvPr>
            <p:ph type="dt" sz="half" idx="10"/>
          </p:nvPr>
        </p:nvSpPr>
        <p:spPr/>
        <p:txBody>
          <a:bodyPr/>
          <a:lstStyle/>
          <a:p>
            <a:fld id="{503B3556-4ADD-F549-8CC1-52A7ECDCF209}" type="datetimeFigureOut">
              <a:rPr lang="en-US" smtClean="0"/>
              <a:t>7/7/26</a:t>
            </a:fld>
            <a:endParaRPr lang="en-US"/>
          </a:p>
        </p:txBody>
      </p:sp>
      <p:sp>
        <p:nvSpPr>
          <p:cNvPr id="5" name="Footer Placeholder 4">
            <a:extLst>
              <a:ext uri="{FF2B5EF4-FFF2-40B4-BE49-F238E27FC236}">
                <a16:creationId xmlns:a16="http://schemas.microsoft.com/office/drawing/2014/main" id="{2093BAA3-26A4-0AAE-EE9E-F79A6235BC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D1B57C-A3B0-999B-F2B8-28F6115E348E}"/>
              </a:ext>
            </a:extLst>
          </p:cNvPr>
          <p:cNvSpPr>
            <a:spLocks noGrp="1"/>
          </p:cNvSpPr>
          <p:nvPr>
            <p:ph type="sldNum" sz="quarter" idx="12"/>
          </p:nvPr>
        </p:nvSpPr>
        <p:spPr/>
        <p:txBody>
          <a:bodyPr/>
          <a:lstStyle/>
          <a:p>
            <a:fld id="{1AC9966F-4599-804E-8DC2-B8DA080F0299}" type="slidenum">
              <a:rPr lang="en-US" smtClean="0"/>
              <a:t>‹#›</a:t>
            </a:fld>
            <a:endParaRPr lang="en-US"/>
          </a:p>
        </p:txBody>
      </p:sp>
    </p:spTree>
    <p:extLst>
      <p:ext uri="{BB962C8B-B14F-4D97-AF65-F5344CB8AC3E}">
        <p14:creationId xmlns:p14="http://schemas.microsoft.com/office/powerpoint/2010/main" val="35011397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38A62-5452-346C-B9BC-841FE2625C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411D024-8E6F-B7ED-BB37-B24DDED6062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F3D892-572B-E4FD-C918-DADA206A0CAE}"/>
              </a:ext>
            </a:extLst>
          </p:cNvPr>
          <p:cNvSpPr>
            <a:spLocks noGrp="1"/>
          </p:cNvSpPr>
          <p:nvPr>
            <p:ph type="dt" sz="half" idx="10"/>
          </p:nvPr>
        </p:nvSpPr>
        <p:spPr/>
        <p:txBody>
          <a:bodyPr/>
          <a:lstStyle/>
          <a:p>
            <a:fld id="{503B3556-4ADD-F549-8CC1-52A7ECDCF209}" type="datetimeFigureOut">
              <a:rPr lang="en-US" smtClean="0"/>
              <a:t>7/7/26</a:t>
            </a:fld>
            <a:endParaRPr lang="en-US"/>
          </a:p>
        </p:txBody>
      </p:sp>
      <p:sp>
        <p:nvSpPr>
          <p:cNvPr id="5" name="Footer Placeholder 4">
            <a:extLst>
              <a:ext uri="{FF2B5EF4-FFF2-40B4-BE49-F238E27FC236}">
                <a16:creationId xmlns:a16="http://schemas.microsoft.com/office/drawing/2014/main" id="{846DCFF3-D3E8-3F61-8D31-FCDC0D1364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1193D2-A8CC-6478-F007-4A3146F6EA3B}"/>
              </a:ext>
            </a:extLst>
          </p:cNvPr>
          <p:cNvSpPr>
            <a:spLocks noGrp="1"/>
          </p:cNvSpPr>
          <p:nvPr>
            <p:ph type="sldNum" sz="quarter" idx="12"/>
          </p:nvPr>
        </p:nvSpPr>
        <p:spPr/>
        <p:txBody>
          <a:bodyPr/>
          <a:lstStyle/>
          <a:p>
            <a:fld id="{1AC9966F-4599-804E-8DC2-B8DA080F0299}" type="slidenum">
              <a:rPr lang="en-US" smtClean="0"/>
              <a:t>‹#›</a:t>
            </a:fld>
            <a:endParaRPr lang="en-US"/>
          </a:p>
        </p:txBody>
      </p:sp>
    </p:spTree>
    <p:extLst>
      <p:ext uri="{BB962C8B-B14F-4D97-AF65-F5344CB8AC3E}">
        <p14:creationId xmlns:p14="http://schemas.microsoft.com/office/powerpoint/2010/main" val="4014362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AB524-5A6A-08DA-C1B3-7EAC519A8C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677DF5-660E-B7FF-2FAA-3DF8CA5EDA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24652B8-5623-CA96-49C1-08B541C815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C721F98-1E51-BBA6-2DE0-F2541A3B1AEE}"/>
              </a:ext>
            </a:extLst>
          </p:cNvPr>
          <p:cNvSpPr>
            <a:spLocks noGrp="1"/>
          </p:cNvSpPr>
          <p:nvPr>
            <p:ph type="dt" sz="half" idx="10"/>
          </p:nvPr>
        </p:nvSpPr>
        <p:spPr/>
        <p:txBody>
          <a:bodyPr/>
          <a:lstStyle/>
          <a:p>
            <a:fld id="{503B3556-4ADD-F549-8CC1-52A7ECDCF209}" type="datetimeFigureOut">
              <a:rPr lang="en-US" smtClean="0"/>
              <a:t>7/7/26</a:t>
            </a:fld>
            <a:endParaRPr lang="en-US"/>
          </a:p>
        </p:txBody>
      </p:sp>
      <p:sp>
        <p:nvSpPr>
          <p:cNvPr id="6" name="Footer Placeholder 5">
            <a:extLst>
              <a:ext uri="{FF2B5EF4-FFF2-40B4-BE49-F238E27FC236}">
                <a16:creationId xmlns:a16="http://schemas.microsoft.com/office/drawing/2014/main" id="{AC713244-10BF-D102-0691-5E7AAF8EEC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E9CADB-7608-31A3-E6A5-2CC198FB6776}"/>
              </a:ext>
            </a:extLst>
          </p:cNvPr>
          <p:cNvSpPr>
            <a:spLocks noGrp="1"/>
          </p:cNvSpPr>
          <p:nvPr>
            <p:ph type="sldNum" sz="quarter" idx="12"/>
          </p:nvPr>
        </p:nvSpPr>
        <p:spPr/>
        <p:txBody>
          <a:bodyPr/>
          <a:lstStyle/>
          <a:p>
            <a:fld id="{1AC9966F-4599-804E-8DC2-B8DA080F0299}" type="slidenum">
              <a:rPr lang="en-US" smtClean="0"/>
              <a:t>‹#›</a:t>
            </a:fld>
            <a:endParaRPr lang="en-US"/>
          </a:p>
        </p:txBody>
      </p:sp>
    </p:spTree>
    <p:extLst>
      <p:ext uri="{BB962C8B-B14F-4D97-AF65-F5344CB8AC3E}">
        <p14:creationId xmlns:p14="http://schemas.microsoft.com/office/powerpoint/2010/main" val="2539144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B7264-A80D-98EA-1F47-8CA316B7A78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F5989B0-D13F-5A77-8AE0-943BC6A338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95107D9-97A4-8A51-4534-8545AF7451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43C290A-8D58-9D42-7995-646C1C3F3E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8525A4-9954-8BFC-E6FD-CD25497EEA3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99D7D9-F8C2-99DA-0AF9-0B6F6310BB97}"/>
              </a:ext>
            </a:extLst>
          </p:cNvPr>
          <p:cNvSpPr>
            <a:spLocks noGrp="1"/>
          </p:cNvSpPr>
          <p:nvPr>
            <p:ph type="dt" sz="half" idx="10"/>
          </p:nvPr>
        </p:nvSpPr>
        <p:spPr/>
        <p:txBody>
          <a:bodyPr/>
          <a:lstStyle/>
          <a:p>
            <a:fld id="{503B3556-4ADD-F549-8CC1-52A7ECDCF209}" type="datetimeFigureOut">
              <a:rPr lang="en-US" smtClean="0"/>
              <a:t>7/7/26</a:t>
            </a:fld>
            <a:endParaRPr lang="en-US"/>
          </a:p>
        </p:txBody>
      </p:sp>
      <p:sp>
        <p:nvSpPr>
          <p:cNvPr id="8" name="Footer Placeholder 7">
            <a:extLst>
              <a:ext uri="{FF2B5EF4-FFF2-40B4-BE49-F238E27FC236}">
                <a16:creationId xmlns:a16="http://schemas.microsoft.com/office/drawing/2014/main" id="{1CF28E48-6CBE-920A-4170-CFCCA237990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BBFBCD6-FB12-506D-A568-E29A38A3A02B}"/>
              </a:ext>
            </a:extLst>
          </p:cNvPr>
          <p:cNvSpPr>
            <a:spLocks noGrp="1"/>
          </p:cNvSpPr>
          <p:nvPr>
            <p:ph type="sldNum" sz="quarter" idx="12"/>
          </p:nvPr>
        </p:nvSpPr>
        <p:spPr/>
        <p:txBody>
          <a:bodyPr/>
          <a:lstStyle/>
          <a:p>
            <a:fld id="{1AC9966F-4599-804E-8DC2-B8DA080F0299}" type="slidenum">
              <a:rPr lang="en-US" smtClean="0"/>
              <a:t>‹#›</a:t>
            </a:fld>
            <a:endParaRPr lang="en-US"/>
          </a:p>
        </p:txBody>
      </p:sp>
    </p:spTree>
    <p:extLst>
      <p:ext uri="{BB962C8B-B14F-4D97-AF65-F5344CB8AC3E}">
        <p14:creationId xmlns:p14="http://schemas.microsoft.com/office/powerpoint/2010/main" val="1549697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CFDC9-1870-6CFE-550F-EBE9B129EF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519AA39-B56C-ADE7-87D7-8B1DBA94B631}"/>
              </a:ext>
            </a:extLst>
          </p:cNvPr>
          <p:cNvSpPr>
            <a:spLocks noGrp="1"/>
          </p:cNvSpPr>
          <p:nvPr>
            <p:ph type="dt" sz="half" idx="10"/>
          </p:nvPr>
        </p:nvSpPr>
        <p:spPr/>
        <p:txBody>
          <a:bodyPr/>
          <a:lstStyle/>
          <a:p>
            <a:fld id="{503B3556-4ADD-F549-8CC1-52A7ECDCF209}" type="datetimeFigureOut">
              <a:rPr lang="en-US" smtClean="0"/>
              <a:t>7/7/26</a:t>
            </a:fld>
            <a:endParaRPr lang="en-US"/>
          </a:p>
        </p:txBody>
      </p:sp>
      <p:sp>
        <p:nvSpPr>
          <p:cNvPr id="4" name="Footer Placeholder 3">
            <a:extLst>
              <a:ext uri="{FF2B5EF4-FFF2-40B4-BE49-F238E27FC236}">
                <a16:creationId xmlns:a16="http://schemas.microsoft.com/office/drawing/2014/main" id="{D8AF45F1-A185-211A-480F-19EDB287B98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8A10DEB-C620-7790-71A2-8BD6D1CAEC6D}"/>
              </a:ext>
            </a:extLst>
          </p:cNvPr>
          <p:cNvSpPr>
            <a:spLocks noGrp="1"/>
          </p:cNvSpPr>
          <p:nvPr>
            <p:ph type="sldNum" sz="quarter" idx="12"/>
          </p:nvPr>
        </p:nvSpPr>
        <p:spPr/>
        <p:txBody>
          <a:bodyPr/>
          <a:lstStyle/>
          <a:p>
            <a:fld id="{1AC9966F-4599-804E-8DC2-B8DA080F0299}" type="slidenum">
              <a:rPr lang="en-US" smtClean="0"/>
              <a:t>‹#›</a:t>
            </a:fld>
            <a:endParaRPr lang="en-US"/>
          </a:p>
        </p:txBody>
      </p:sp>
    </p:spTree>
    <p:extLst>
      <p:ext uri="{BB962C8B-B14F-4D97-AF65-F5344CB8AC3E}">
        <p14:creationId xmlns:p14="http://schemas.microsoft.com/office/powerpoint/2010/main" val="2945705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D1CBE7-2164-28A9-013D-A2F322D42362}"/>
              </a:ext>
            </a:extLst>
          </p:cNvPr>
          <p:cNvSpPr>
            <a:spLocks noGrp="1"/>
          </p:cNvSpPr>
          <p:nvPr>
            <p:ph type="dt" sz="half" idx="10"/>
          </p:nvPr>
        </p:nvSpPr>
        <p:spPr/>
        <p:txBody>
          <a:bodyPr/>
          <a:lstStyle/>
          <a:p>
            <a:fld id="{503B3556-4ADD-F549-8CC1-52A7ECDCF209}" type="datetimeFigureOut">
              <a:rPr lang="en-US" smtClean="0"/>
              <a:t>7/7/26</a:t>
            </a:fld>
            <a:endParaRPr lang="en-US"/>
          </a:p>
        </p:txBody>
      </p:sp>
      <p:sp>
        <p:nvSpPr>
          <p:cNvPr id="3" name="Footer Placeholder 2">
            <a:extLst>
              <a:ext uri="{FF2B5EF4-FFF2-40B4-BE49-F238E27FC236}">
                <a16:creationId xmlns:a16="http://schemas.microsoft.com/office/drawing/2014/main" id="{B30DE598-E9B3-6395-6C04-B670A35590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1915A8E-9DE9-6FBB-4D3A-B4A10E66E10E}"/>
              </a:ext>
            </a:extLst>
          </p:cNvPr>
          <p:cNvSpPr>
            <a:spLocks noGrp="1"/>
          </p:cNvSpPr>
          <p:nvPr>
            <p:ph type="sldNum" sz="quarter" idx="12"/>
          </p:nvPr>
        </p:nvSpPr>
        <p:spPr/>
        <p:txBody>
          <a:bodyPr/>
          <a:lstStyle/>
          <a:p>
            <a:fld id="{1AC9966F-4599-804E-8DC2-B8DA080F0299}" type="slidenum">
              <a:rPr lang="en-US" smtClean="0"/>
              <a:t>‹#›</a:t>
            </a:fld>
            <a:endParaRPr lang="en-US"/>
          </a:p>
        </p:txBody>
      </p:sp>
    </p:spTree>
    <p:extLst>
      <p:ext uri="{BB962C8B-B14F-4D97-AF65-F5344CB8AC3E}">
        <p14:creationId xmlns:p14="http://schemas.microsoft.com/office/powerpoint/2010/main" val="12419420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028EB-F238-2B19-33C3-89EE217348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6741695-F18E-8C00-84B8-DF7DC1212A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017BC95-11FC-4898-53D1-C520041325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FEC59C-CADF-3A16-D8D6-B6D5BA595520}"/>
              </a:ext>
            </a:extLst>
          </p:cNvPr>
          <p:cNvSpPr>
            <a:spLocks noGrp="1"/>
          </p:cNvSpPr>
          <p:nvPr>
            <p:ph type="dt" sz="half" idx="10"/>
          </p:nvPr>
        </p:nvSpPr>
        <p:spPr/>
        <p:txBody>
          <a:bodyPr/>
          <a:lstStyle/>
          <a:p>
            <a:fld id="{503B3556-4ADD-F549-8CC1-52A7ECDCF209}" type="datetimeFigureOut">
              <a:rPr lang="en-US" smtClean="0"/>
              <a:t>7/7/26</a:t>
            </a:fld>
            <a:endParaRPr lang="en-US"/>
          </a:p>
        </p:txBody>
      </p:sp>
      <p:sp>
        <p:nvSpPr>
          <p:cNvPr id="6" name="Footer Placeholder 5">
            <a:extLst>
              <a:ext uri="{FF2B5EF4-FFF2-40B4-BE49-F238E27FC236}">
                <a16:creationId xmlns:a16="http://schemas.microsoft.com/office/drawing/2014/main" id="{2C689773-AD17-C4B7-344A-63FB5CA53F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190A6F-25D1-9951-D660-66E79B6956B5}"/>
              </a:ext>
            </a:extLst>
          </p:cNvPr>
          <p:cNvSpPr>
            <a:spLocks noGrp="1"/>
          </p:cNvSpPr>
          <p:nvPr>
            <p:ph type="sldNum" sz="quarter" idx="12"/>
          </p:nvPr>
        </p:nvSpPr>
        <p:spPr/>
        <p:txBody>
          <a:bodyPr/>
          <a:lstStyle/>
          <a:p>
            <a:fld id="{1AC9966F-4599-804E-8DC2-B8DA080F0299}" type="slidenum">
              <a:rPr lang="en-US" smtClean="0"/>
              <a:t>‹#›</a:t>
            </a:fld>
            <a:endParaRPr lang="en-US"/>
          </a:p>
        </p:txBody>
      </p:sp>
    </p:spTree>
    <p:extLst>
      <p:ext uri="{BB962C8B-B14F-4D97-AF65-F5344CB8AC3E}">
        <p14:creationId xmlns:p14="http://schemas.microsoft.com/office/powerpoint/2010/main" val="3370912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D82D3-959C-F048-34F4-401AA3A3F9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E2BF487-3FB6-47C9-6094-22EB2656A9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9794A43-2B90-8231-DEDF-0B7BB4363C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B43A2D-F502-45B5-BF70-F9A9AF2FC83B}"/>
              </a:ext>
            </a:extLst>
          </p:cNvPr>
          <p:cNvSpPr>
            <a:spLocks noGrp="1"/>
          </p:cNvSpPr>
          <p:nvPr>
            <p:ph type="dt" sz="half" idx="10"/>
          </p:nvPr>
        </p:nvSpPr>
        <p:spPr/>
        <p:txBody>
          <a:bodyPr/>
          <a:lstStyle/>
          <a:p>
            <a:fld id="{503B3556-4ADD-F549-8CC1-52A7ECDCF209}" type="datetimeFigureOut">
              <a:rPr lang="en-US" smtClean="0"/>
              <a:t>7/7/26</a:t>
            </a:fld>
            <a:endParaRPr lang="en-US"/>
          </a:p>
        </p:txBody>
      </p:sp>
      <p:sp>
        <p:nvSpPr>
          <p:cNvPr id="6" name="Footer Placeholder 5">
            <a:extLst>
              <a:ext uri="{FF2B5EF4-FFF2-40B4-BE49-F238E27FC236}">
                <a16:creationId xmlns:a16="http://schemas.microsoft.com/office/drawing/2014/main" id="{63299318-6F95-3CA4-4248-2DEA58DFCF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795D65-6506-F772-12E7-A7C92A25015F}"/>
              </a:ext>
            </a:extLst>
          </p:cNvPr>
          <p:cNvSpPr>
            <a:spLocks noGrp="1"/>
          </p:cNvSpPr>
          <p:nvPr>
            <p:ph type="sldNum" sz="quarter" idx="12"/>
          </p:nvPr>
        </p:nvSpPr>
        <p:spPr/>
        <p:txBody>
          <a:bodyPr/>
          <a:lstStyle/>
          <a:p>
            <a:fld id="{1AC9966F-4599-804E-8DC2-B8DA080F0299}" type="slidenum">
              <a:rPr lang="en-US" smtClean="0"/>
              <a:t>‹#›</a:t>
            </a:fld>
            <a:endParaRPr lang="en-US"/>
          </a:p>
        </p:txBody>
      </p:sp>
    </p:spTree>
    <p:extLst>
      <p:ext uri="{BB962C8B-B14F-4D97-AF65-F5344CB8AC3E}">
        <p14:creationId xmlns:p14="http://schemas.microsoft.com/office/powerpoint/2010/main" val="3296031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A714C-709F-BCF5-2F14-8FF0A109C2C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B6A6C0A-B333-7B37-6491-7C8E0D8F2F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784057-0212-96A9-464C-C286FA0BEB8B}"/>
              </a:ext>
            </a:extLst>
          </p:cNvPr>
          <p:cNvSpPr>
            <a:spLocks noGrp="1"/>
          </p:cNvSpPr>
          <p:nvPr>
            <p:ph type="dt" sz="half" idx="10"/>
          </p:nvPr>
        </p:nvSpPr>
        <p:spPr/>
        <p:txBody>
          <a:bodyPr/>
          <a:lstStyle/>
          <a:p>
            <a:fld id="{503B3556-4ADD-F549-8CC1-52A7ECDCF209}" type="datetimeFigureOut">
              <a:rPr lang="en-US" smtClean="0"/>
              <a:t>7/7/26</a:t>
            </a:fld>
            <a:endParaRPr lang="en-US"/>
          </a:p>
        </p:txBody>
      </p:sp>
      <p:sp>
        <p:nvSpPr>
          <p:cNvPr id="5" name="Footer Placeholder 4">
            <a:extLst>
              <a:ext uri="{FF2B5EF4-FFF2-40B4-BE49-F238E27FC236}">
                <a16:creationId xmlns:a16="http://schemas.microsoft.com/office/drawing/2014/main" id="{39FC7286-029A-2ACE-895C-67286EA15F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DED061-B5BC-A8E4-F271-DE656B2E4EDA}"/>
              </a:ext>
            </a:extLst>
          </p:cNvPr>
          <p:cNvSpPr>
            <a:spLocks noGrp="1"/>
          </p:cNvSpPr>
          <p:nvPr>
            <p:ph type="sldNum" sz="quarter" idx="12"/>
          </p:nvPr>
        </p:nvSpPr>
        <p:spPr/>
        <p:txBody>
          <a:bodyPr/>
          <a:lstStyle/>
          <a:p>
            <a:fld id="{1AC9966F-4599-804E-8DC2-B8DA080F0299}" type="slidenum">
              <a:rPr lang="en-US" smtClean="0"/>
              <a:t>‹#›</a:t>
            </a:fld>
            <a:endParaRPr lang="en-US"/>
          </a:p>
        </p:txBody>
      </p:sp>
    </p:spTree>
    <p:extLst>
      <p:ext uri="{BB962C8B-B14F-4D97-AF65-F5344CB8AC3E}">
        <p14:creationId xmlns:p14="http://schemas.microsoft.com/office/powerpoint/2010/main" val="3705759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1FF6D3-14FC-45A9-D3A8-869CCA0695C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0308734-5B5E-9D28-ABC1-E58F59F7B2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AC05E7-A036-1423-3DB7-6751432BC732}"/>
              </a:ext>
            </a:extLst>
          </p:cNvPr>
          <p:cNvSpPr>
            <a:spLocks noGrp="1"/>
          </p:cNvSpPr>
          <p:nvPr>
            <p:ph type="dt" sz="half" idx="10"/>
          </p:nvPr>
        </p:nvSpPr>
        <p:spPr/>
        <p:txBody>
          <a:bodyPr/>
          <a:lstStyle/>
          <a:p>
            <a:fld id="{503B3556-4ADD-F549-8CC1-52A7ECDCF209}" type="datetimeFigureOut">
              <a:rPr lang="en-US" smtClean="0"/>
              <a:t>7/7/26</a:t>
            </a:fld>
            <a:endParaRPr lang="en-US"/>
          </a:p>
        </p:txBody>
      </p:sp>
      <p:sp>
        <p:nvSpPr>
          <p:cNvPr id="5" name="Footer Placeholder 4">
            <a:extLst>
              <a:ext uri="{FF2B5EF4-FFF2-40B4-BE49-F238E27FC236}">
                <a16:creationId xmlns:a16="http://schemas.microsoft.com/office/drawing/2014/main" id="{5DBF5D5C-7F61-0DD3-03EC-3E970965EE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898D34-6EC5-7A93-4B54-68B3720D57F7}"/>
              </a:ext>
            </a:extLst>
          </p:cNvPr>
          <p:cNvSpPr>
            <a:spLocks noGrp="1"/>
          </p:cNvSpPr>
          <p:nvPr>
            <p:ph type="sldNum" sz="quarter" idx="12"/>
          </p:nvPr>
        </p:nvSpPr>
        <p:spPr/>
        <p:txBody>
          <a:bodyPr/>
          <a:lstStyle/>
          <a:p>
            <a:fld id="{1AC9966F-4599-804E-8DC2-B8DA080F0299}" type="slidenum">
              <a:rPr lang="en-US" smtClean="0"/>
              <a:t>‹#›</a:t>
            </a:fld>
            <a:endParaRPr lang="en-US"/>
          </a:p>
        </p:txBody>
      </p:sp>
    </p:spTree>
    <p:extLst>
      <p:ext uri="{BB962C8B-B14F-4D97-AF65-F5344CB8AC3E}">
        <p14:creationId xmlns:p14="http://schemas.microsoft.com/office/powerpoint/2010/main" val="2573126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3F3969-4AA7-EDE7-E3C9-9C455C8915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C6CE9E7-920C-7957-5E57-07DEBF1E52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2C263A-E8B9-F357-987C-EE98F63613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03B3556-4ADD-F549-8CC1-52A7ECDCF209}" type="datetimeFigureOut">
              <a:rPr lang="en-US" smtClean="0"/>
              <a:t>7/7/26</a:t>
            </a:fld>
            <a:endParaRPr lang="en-US"/>
          </a:p>
        </p:txBody>
      </p:sp>
      <p:sp>
        <p:nvSpPr>
          <p:cNvPr id="5" name="Footer Placeholder 4">
            <a:extLst>
              <a:ext uri="{FF2B5EF4-FFF2-40B4-BE49-F238E27FC236}">
                <a16:creationId xmlns:a16="http://schemas.microsoft.com/office/drawing/2014/main" id="{31E5D9CB-5E84-A059-E61A-57DAD3304D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6478E50-E727-E61F-DAB0-37674B3348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C9966F-4599-804E-8DC2-B8DA080F0299}" type="slidenum">
              <a:rPr lang="en-US" smtClean="0"/>
              <a:t>‹#›</a:t>
            </a:fld>
            <a:endParaRPr lang="en-US"/>
          </a:p>
        </p:txBody>
      </p:sp>
    </p:spTree>
    <p:extLst>
      <p:ext uri="{BB962C8B-B14F-4D97-AF65-F5344CB8AC3E}">
        <p14:creationId xmlns:p14="http://schemas.microsoft.com/office/powerpoint/2010/main" val="37690456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CustomShape 3"/>
          <p:cNvSpPr/>
          <p:nvPr/>
        </p:nvSpPr>
        <p:spPr>
          <a:xfrm>
            <a:off x="1479862" y="905182"/>
            <a:ext cx="4436532" cy="190373"/>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22589" tIns="11335" rIns="22589" bIns="11335" anchor="t">
            <a:spAutoFit/>
          </a:bodyPr>
          <a:lstStyle/>
          <a:p>
            <a:pPr algn="just">
              <a:lnSpc>
                <a:spcPct val="100000"/>
              </a:lnSpc>
              <a:buNone/>
            </a:pPr>
            <a:endParaRPr lang="en-US" sz="544" dirty="0">
              <a:latin typeface="Arial"/>
            </a:endParaRPr>
          </a:p>
          <a:p>
            <a:pPr>
              <a:lnSpc>
                <a:spcPct val="100000"/>
              </a:lnSpc>
              <a:buNone/>
            </a:pPr>
            <a:endParaRPr lang="en-US" sz="544" dirty="0">
              <a:latin typeface="Arial"/>
            </a:endParaRPr>
          </a:p>
        </p:txBody>
      </p:sp>
      <p:sp>
        <p:nvSpPr>
          <p:cNvPr id="52" name="CustomShape 5"/>
          <p:cNvSpPr/>
          <p:nvPr/>
        </p:nvSpPr>
        <p:spPr>
          <a:xfrm>
            <a:off x="1402147" y="766387"/>
            <a:ext cx="4588374" cy="162289"/>
          </a:xfrm>
          <a:prstGeom prst="rect">
            <a:avLst/>
          </a:prstGeom>
          <a:solidFill>
            <a:srgbClr val="B8C3D0"/>
          </a:solidFill>
          <a:ln w="0">
            <a:noFill/>
          </a:ln>
        </p:spPr>
        <p:style>
          <a:lnRef idx="0">
            <a:scrgbClr r="0" g="0" b="0"/>
          </a:lnRef>
          <a:fillRef idx="0">
            <a:scrgbClr r="0" g="0" b="0"/>
          </a:fillRef>
          <a:effectRef idx="0">
            <a:scrgbClr r="0" g="0" b="0"/>
          </a:effectRef>
          <a:fontRef idx="minor"/>
        </p:style>
        <p:txBody>
          <a:bodyPr lIns="22589" tIns="11335" rIns="22589" bIns="11335" anchor="t">
            <a:spAutoFit/>
          </a:bodyPr>
          <a:lstStyle/>
          <a:p>
            <a:pPr algn="ctr">
              <a:spcBef>
                <a:spcPts val="453"/>
              </a:spcBef>
            </a:pPr>
            <a:r>
              <a:rPr lang="en-US" sz="906" b="1">
                <a:solidFill>
                  <a:srgbClr val="002E5C"/>
                </a:solidFill>
                <a:latin typeface="Times New Roman"/>
                <a:ea typeface="宋体"/>
              </a:rPr>
              <a:t>Introduction</a:t>
            </a:r>
            <a:endParaRPr lang="en-US" sz="906">
              <a:latin typeface="Arial"/>
            </a:endParaRPr>
          </a:p>
        </p:txBody>
      </p:sp>
      <p:sp>
        <p:nvSpPr>
          <p:cNvPr id="53" name="CustomShape 6"/>
          <p:cNvSpPr/>
          <p:nvPr/>
        </p:nvSpPr>
        <p:spPr>
          <a:xfrm>
            <a:off x="6167561" y="5794386"/>
            <a:ext cx="4590005" cy="162289"/>
          </a:xfrm>
          <a:prstGeom prst="rect">
            <a:avLst/>
          </a:prstGeom>
          <a:solidFill>
            <a:srgbClr val="B8C3D0"/>
          </a:solidFill>
          <a:ln w="0">
            <a:noFill/>
          </a:ln>
        </p:spPr>
        <p:style>
          <a:lnRef idx="0">
            <a:scrgbClr r="0" g="0" b="0"/>
          </a:lnRef>
          <a:fillRef idx="0">
            <a:scrgbClr r="0" g="0" b="0"/>
          </a:fillRef>
          <a:effectRef idx="0">
            <a:scrgbClr r="0" g="0" b="0"/>
          </a:effectRef>
          <a:fontRef idx="minor"/>
        </p:style>
        <p:txBody>
          <a:bodyPr lIns="22589" tIns="11335" rIns="22589" bIns="11335" anchor="t">
            <a:spAutoFit/>
          </a:bodyPr>
          <a:lstStyle/>
          <a:p>
            <a:pPr marL="283352" indent="-56507" algn="ctr">
              <a:tabLst>
                <a:tab pos="0" algn="l"/>
              </a:tabLst>
            </a:pPr>
            <a:r>
              <a:rPr lang="en-US" sz="906" b="1">
                <a:solidFill>
                  <a:srgbClr val="002E5C"/>
                </a:solidFill>
                <a:latin typeface="Times New Roman"/>
                <a:ea typeface="宋体"/>
              </a:rPr>
              <a:t>Conclusion &amp; Future Work</a:t>
            </a:r>
            <a:endParaRPr lang="en-US" sz="906">
              <a:latin typeface="Arial"/>
            </a:endParaRPr>
          </a:p>
        </p:txBody>
      </p:sp>
      <p:sp>
        <p:nvSpPr>
          <p:cNvPr id="54" name="CustomShape 7"/>
          <p:cNvSpPr/>
          <p:nvPr/>
        </p:nvSpPr>
        <p:spPr>
          <a:xfrm>
            <a:off x="2603184" y="462051"/>
            <a:ext cx="6941520" cy="159213"/>
          </a:xfrm>
          <a:prstGeom prst="rect">
            <a:avLst/>
          </a:prstGeom>
          <a:noFill/>
          <a:ln w="0">
            <a:noFill/>
          </a:ln>
        </p:spPr>
        <p:style>
          <a:lnRef idx="0">
            <a:scrgbClr r="0" g="0" b="0"/>
          </a:lnRef>
          <a:fillRef idx="0">
            <a:scrgbClr r="0" g="0" b="0"/>
          </a:fillRef>
          <a:effectRef idx="0">
            <a:scrgbClr r="0" g="0" b="0"/>
          </a:effectRef>
          <a:fontRef idx="minor"/>
        </p:style>
        <p:txBody>
          <a:bodyPr lIns="20387" tIns="10193" rIns="20387" bIns="10193" anchor="t">
            <a:spAutoFit/>
          </a:bodyPr>
          <a:lstStyle/>
          <a:p>
            <a:pPr algn="ctr">
              <a:lnSpc>
                <a:spcPct val="115000"/>
              </a:lnSpc>
              <a:buNone/>
            </a:pPr>
            <a:r>
              <a:rPr lang="en-GB" sz="408" baseline="33000" dirty="0">
                <a:solidFill>
                  <a:srgbClr val="000000"/>
                </a:solidFill>
                <a:latin typeface="Times new Roman"/>
                <a:ea typeface="DejaVu Sans"/>
              </a:rPr>
              <a:t>1</a:t>
            </a:r>
            <a:r>
              <a:rPr lang="en-GB" sz="408" dirty="0">
                <a:solidFill>
                  <a:srgbClr val="000000"/>
                </a:solidFill>
                <a:latin typeface="Times new Roman"/>
                <a:ea typeface="DejaVu Sans"/>
              </a:rPr>
              <a:t>Space Weather Technology, Research and Education Center, University of Colorado, Boulder, CO, USA,</a:t>
            </a:r>
          </a:p>
          <a:p>
            <a:pPr algn="ctr">
              <a:lnSpc>
                <a:spcPct val="115000"/>
              </a:lnSpc>
              <a:buNone/>
            </a:pPr>
            <a:r>
              <a:rPr lang="en-GB" sz="408" baseline="30000" dirty="0">
                <a:solidFill>
                  <a:srgbClr val="000000"/>
                </a:solidFill>
                <a:latin typeface="Times new Roman"/>
                <a:ea typeface="DejaVu Sans"/>
              </a:rPr>
              <a:t>2</a:t>
            </a:r>
            <a:r>
              <a:rPr lang="en-GB" sz="408" dirty="0">
                <a:solidFill>
                  <a:srgbClr val="000000"/>
                </a:solidFill>
                <a:latin typeface="Times new Roman"/>
                <a:ea typeface="DejaVu Sans"/>
              </a:rPr>
              <a:t>National Center of Atmospheric Research High Altitude Observatory, Boulder CO, USA</a:t>
            </a:r>
            <a:endParaRPr lang="en-US" sz="408" dirty="0">
              <a:latin typeface="Arial"/>
            </a:endParaRPr>
          </a:p>
        </p:txBody>
      </p:sp>
      <p:sp>
        <p:nvSpPr>
          <p:cNvPr id="56" name="CustomShape 8"/>
          <p:cNvSpPr/>
          <p:nvPr/>
        </p:nvSpPr>
        <p:spPr>
          <a:xfrm>
            <a:off x="3236240" y="-1957"/>
            <a:ext cx="6088774" cy="211084"/>
          </a:xfrm>
          <a:prstGeom prst="rect">
            <a:avLst/>
          </a:prstGeom>
          <a:noFill/>
          <a:ln w="0">
            <a:noFill/>
          </a:ln>
        </p:spPr>
        <p:style>
          <a:lnRef idx="0">
            <a:scrgbClr r="0" g="0" b="0"/>
          </a:lnRef>
          <a:fillRef idx="0">
            <a:scrgbClr r="0" g="0" b="0"/>
          </a:fillRef>
          <a:effectRef idx="0">
            <a:scrgbClr r="0" g="0" b="0"/>
          </a:effectRef>
          <a:fontRef idx="minor"/>
        </p:style>
        <p:txBody>
          <a:bodyPr lIns="22589" tIns="11335" rIns="22589" bIns="11335" anchor="t">
            <a:spAutoFit/>
          </a:bodyPr>
          <a:lstStyle/>
          <a:p>
            <a:pPr algn="ctr">
              <a:spcBef>
                <a:spcPts val="1631"/>
              </a:spcBef>
            </a:pPr>
            <a:r>
              <a:rPr lang="en-US" sz="1223" b="1" dirty="0">
                <a:solidFill>
                  <a:srgbClr val="000000"/>
                </a:solidFill>
                <a:latin typeface="Times New Roman"/>
              </a:rPr>
              <a:t>Verification of SWPC Kp and F10.7 Space Weather Forecasts</a:t>
            </a:r>
            <a:endParaRPr lang="en-US" sz="1223" dirty="0">
              <a:latin typeface="Arial"/>
            </a:endParaRPr>
          </a:p>
        </p:txBody>
      </p:sp>
      <p:sp>
        <p:nvSpPr>
          <p:cNvPr id="57" name="CustomShape 9"/>
          <p:cNvSpPr/>
          <p:nvPr/>
        </p:nvSpPr>
        <p:spPr>
          <a:xfrm>
            <a:off x="6632629" y="5984393"/>
            <a:ext cx="902980" cy="294877"/>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sz="408"/>
          </a:p>
        </p:txBody>
      </p:sp>
      <p:sp>
        <p:nvSpPr>
          <p:cNvPr id="58" name="CustomShape 11"/>
          <p:cNvSpPr/>
          <p:nvPr/>
        </p:nvSpPr>
        <p:spPr>
          <a:xfrm>
            <a:off x="16568274" y="11986236"/>
            <a:ext cx="5216130" cy="383248"/>
          </a:xfrm>
          <a:prstGeom prst="rect">
            <a:avLst/>
          </a:prstGeom>
          <a:noFill/>
          <a:ln w="0">
            <a:noFill/>
          </a:ln>
        </p:spPr>
        <p:style>
          <a:lnRef idx="0">
            <a:scrgbClr r="0" g="0" b="0"/>
          </a:lnRef>
          <a:fillRef idx="0">
            <a:scrgbClr r="0" g="0" b="0"/>
          </a:fillRef>
          <a:effectRef idx="0">
            <a:scrgbClr r="0" g="0" b="0"/>
          </a:effectRef>
          <a:fontRef idx="minor"/>
        </p:style>
        <p:txBody>
          <a:bodyPr lIns="20387" tIns="10193" rIns="20387" bIns="10193" anchor="t">
            <a:spAutoFit/>
          </a:bodyPr>
          <a:lstStyle/>
          <a:p>
            <a:pPr>
              <a:lnSpc>
                <a:spcPct val="100000"/>
              </a:lnSpc>
              <a:buNone/>
            </a:pPr>
            <a:r>
              <a:rPr lang="en-US" sz="589">
                <a:solidFill>
                  <a:srgbClr val="000000"/>
                </a:solidFill>
                <a:latin typeface="Times New Roman"/>
                <a:ea typeface="Times New Roman"/>
              </a:rPr>
              <a:t>This work is supported by the National Natural Science Foundation of China (NSFC) (project ID: 41730109) and the Jiangsu dual creative talents and teams programme projects awarded in 2017. This work is also supported by the Australian Research Council (ARC) project (LP160100561). The China Scholarship Council (CSC) is gratefully acknowledged for its provision of a scholarship for Andong Hu's PhD study at the SPACE Research Center, RMIT University. We also thank UCAR/CDAAC for providing ionPrf data, and OMNIWeb for providing the Kp and R10.7data.</a:t>
            </a:r>
            <a:endParaRPr lang="en-US" sz="589">
              <a:latin typeface="Arial"/>
            </a:endParaRPr>
          </a:p>
        </p:txBody>
      </p:sp>
      <p:sp>
        <p:nvSpPr>
          <p:cNvPr id="59" name="CustomShape 12"/>
          <p:cNvSpPr/>
          <p:nvPr/>
        </p:nvSpPr>
        <p:spPr>
          <a:xfrm>
            <a:off x="6167561" y="2505967"/>
            <a:ext cx="4590005" cy="162289"/>
          </a:xfrm>
          <a:prstGeom prst="rect">
            <a:avLst/>
          </a:prstGeom>
          <a:solidFill>
            <a:srgbClr val="B8C3D0"/>
          </a:solidFill>
          <a:ln w="0">
            <a:noFill/>
          </a:ln>
        </p:spPr>
        <p:style>
          <a:lnRef idx="0">
            <a:scrgbClr r="0" g="0" b="0"/>
          </a:lnRef>
          <a:fillRef idx="0">
            <a:scrgbClr r="0" g="0" b="0"/>
          </a:fillRef>
          <a:effectRef idx="0">
            <a:scrgbClr r="0" g="0" b="0"/>
          </a:effectRef>
          <a:fontRef idx="minor"/>
        </p:style>
        <p:txBody>
          <a:bodyPr lIns="22589" tIns="11335" rIns="22589" bIns="11335" anchor="t">
            <a:spAutoFit/>
          </a:bodyPr>
          <a:lstStyle/>
          <a:p>
            <a:pPr algn="ctr">
              <a:spcBef>
                <a:spcPts val="453"/>
              </a:spcBef>
            </a:pPr>
            <a:r>
              <a:rPr lang="en-US" sz="906" b="1">
                <a:solidFill>
                  <a:srgbClr val="002E5C"/>
                </a:solidFill>
                <a:latin typeface="Times New Roman"/>
                <a:ea typeface="宋体"/>
              </a:rPr>
              <a:t>Test Result and Analysis</a:t>
            </a:r>
            <a:endParaRPr lang="en-US" sz="906">
              <a:latin typeface="Arial"/>
            </a:endParaRPr>
          </a:p>
        </p:txBody>
      </p:sp>
      <p:sp>
        <p:nvSpPr>
          <p:cNvPr id="60" name="CustomShape 13"/>
          <p:cNvSpPr/>
          <p:nvPr/>
        </p:nvSpPr>
        <p:spPr>
          <a:xfrm>
            <a:off x="1248429" y="326"/>
            <a:ext cx="9694496" cy="72496"/>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sz="408"/>
          </a:p>
        </p:txBody>
      </p:sp>
      <p:sp>
        <p:nvSpPr>
          <p:cNvPr id="61" name="CustomShape 14"/>
          <p:cNvSpPr/>
          <p:nvPr/>
        </p:nvSpPr>
        <p:spPr>
          <a:xfrm>
            <a:off x="6067747" y="331167"/>
            <a:ext cx="55600" cy="146132"/>
          </a:xfrm>
          <a:prstGeom prst="rect">
            <a:avLst/>
          </a:prstGeom>
          <a:noFill/>
          <a:ln w="0">
            <a:noFill/>
          </a:ln>
        </p:spPr>
        <p:style>
          <a:lnRef idx="0">
            <a:scrgbClr r="0" g="0" b="0"/>
          </a:lnRef>
          <a:fillRef idx="0">
            <a:scrgbClr r="0" g="0" b="0"/>
          </a:fillRef>
          <a:effectRef idx="0">
            <a:scrgbClr r="0" g="0" b="0"/>
          </a:effectRef>
          <a:fontRef idx="minor"/>
        </p:style>
        <p:txBody>
          <a:bodyPr wrap="none" lIns="20387" tIns="10193" rIns="20387" bIns="10193" anchor="ctr">
            <a:spAutoFit/>
          </a:bodyPr>
          <a:lstStyle/>
          <a:p>
            <a:pPr>
              <a:lnSpc>
                <a:spcPct val="100000"/>
              </a:lnSpc>
              <a:buNone/>
            </a:pPr>
            <a:r>
              <a:rPr lang="en-US" sz="408">
                <a:solidFill>
                  <a:srgbClr val="000000"/>
                </a:solidFill>
                <a:latin typeface="Arial"/>
                <a:ea typeface="DejaVu Sans"/>
              </a:rPr>
              <a:t> </a:t>
            </a:r>
            <a:endParaRPr lang="en-US" sz="408">
              <a:latin typeface="Arial"/>
            </a:endParaRPr>
          </a:p>
          <a:p>
            <a:pPr>
              <a:lnSpc>
                <a:spcPct val="100000"/>
              </a:lnSpc>
              <a:buNone/>
            </a:pPr>
            <a:endParaRPr lang="en-US" sz="408">
              <a:latin typeface="Arial"/>
            </a:endParaRPr>
          </a:p>
        </p:txBody>
      </p:sp>
      <p:sp>
        <p:nvSpPr>
          <p:cNvPr id="62" name="CustomShape 15"/>
          <p:cNvSpPr/>
          <p:nvPr/>
        </p:nvSpPr>
        <p:spPr>
          <a:xfrm>
            <a:off x="1248429" y="768671"/>
            <a:ext cx="9694496" cy="72496"/>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sz="408"/>
          </a:p>
        </p:txBody>
      </p:sp>
      <p:sp>
        <p:nvSpPr>
          <p:cNvPr id="63" name="CustomShape 16"/>
          <p:cNvSpPr/>
          <p:nvPr/>
        </p:nvSpPr>
        <p:spPr>
          <a:xfrm>
            <a:off x="1404104" y="4038660"/>
            <a:ext cx="4586091" cy="162289"/>
          </a:xfrm>
          <a:prstGeom prst="rect">
            <a:avLst/>
          </a:prstGeom>
          <a:solidFill>
            <a:srgbClr val="B8C3D0"/>
          </a:solidFill>
          <a:ln w="0">
            <a:noFill/>
          </a:ln>
        </p:spPr>
        <p:style>
          <a:lnRef idx="0">
            <a:scrgbClr r="0" g="0" b="0"/>
          </a:lnRef>
          <a:fillRef idx="0">
            <a:scrgbClr r="0" g="0" b="0"/>
          </a:fillRef>
          <a:effectRef idx="0">
            <a:scrgbClr r="0" g="0" b="0"/>
          </a:effectRef>
          <a:fontRef idx="minor"/>
        </p:style>
        <p:txBody>
          <a:bodyPr lIns="22589" tIns="11335" rIns="22589" bIns="11335" anchor="t">
            <a:spAutoFit/>
          </a:bodyPr>
          <a:lstStyle/>
          <a:p>
            <a:pPr algn="ctr">
              <a:spcBef>
                <a:spcPts val="453"/>
              </a:spcBef>
            </a:pPr>
            <a:r>
              <a:rPr lang="en-US" sz="906" b="1">
                <a:solidFill>
                  <a:srgbClr val="002E5C"/>
                </a:solidFill>
                <a:latin typeface="Times New Roman"/>
                <a:ea typeface="宋体"/>
              </a:rPr>
              <a:t>Results	</a:t>
            </a:r>
            <a:endParaRPr lang="en-US" sz="906">
              <a:latin typeface="Arial"/>
            </a:endParaRPr>
          </a:p>
        </p:txBody>
      </p:sp>
      <p:sp>
        <p:nvSpPr>
          <p:cNvPr id="64" name="CustomShape 17"/>
          <p:cNvSpPr/>
          <p:nvPr/>
        </p:nvSpPr>
        <p:spPr>
          <a:xfrm rot="6000">
            <a:off x="6542029" y="1076106"/>
            <a:ext cx="3093193" cy="268456"/>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sz="408"/>
          </a:p>
        </p:txBody>
      </p:sp>
      <p:sp>
        <p:nvSpPr>
          <p:cNvPr id="68" name="CustomShape 24"/>
          <p:cNvSpPr/>
          <p:nvPr/>
        </p:nvSpPr>
        <p:spPr>
          <a:xfrm>
            <a:off x="2799062" y="344785"/>
            <a:ext cx="6471397" cy="146004"/>
          </a:xfrm>
          <a:prstGeom prst="rect">
            <a:avLst/>
          </a:prstGeom>
          <a:noFill/>
          <a:ln w="0">
            <a:noFill/>
          </a:ln>
        </p:spPr>
        <p:style>
          <a:lnRef idx="0">
            <a:scrgbClr r="0" g="0" b="0"/>
          </a:lnRef>
          <a:fillRef idx="0">
            <a:scrgbClr r="0" g="0" b="0"/>
          </a:fillRef>
          <a:effectRef idx="0">
            <a:scrgbClr r="0" g="0" b="0"/>
          </a:effectRef>
          <a:fontRef idx="minor"/>
        </p:style>
        <p:txBody>
          <a:bodyPr lIns="20387" tIns="10193" rIns="20387" bIns="10193" anchor="t">
            <a:spAutoFit/>
          </a:bodyPr>
          <a:lstStyle/>
          <a:p>
            <a:pPr algn="ctr">
              <a:spcBef>
                <a:spcPts val="1631"/>
              </a:spcBef>
            </a:pPr>
            <a:r>
              <a:rPr lang="en-US" sz="815" b="1" dirty="0">
                <a:solidFill>
                  <a:srgbClr val="002E5C"/>
                </a:solidFill>
                <a:latin typeface="Times New Roman"/>
                <a:ea typeface="SimSun"/>
              </a:rPr>
              <a:t>Henry Jordan</a:t>
            </a:r>
            <a:r>
              <a:rPr lang="en-US" sz="815" b="1" baseline="30000" dirty="0">
                <a:solidFill>
                  <a:srgbClr val="002E5C"/>
                </a:solidFill>
                <a:latin typeface="Times New Roman"/>
                <a:ea typeface="SimSun"/>
              </a:rPr>
              <a:t>1</a:t>
            </a:r>
            <a:r>
              <a:rPr lang="en-US" sz="815" b="1" dirty="0">
                <a:solidFill>
                  <a:srgbClr val="002E5C"/>
                </a:solidFill>
                <a:latin typeface="Times New Roman"/>
                <a:ea typeface="SimSun"/>
              </a:rPr>
              <a:t>, Tomas Berger</a:t>
            </a:r>
            <a:r>
              <a:rPr lang="en-US" sz="815" b="1" baseline="30000" dirty="0">
                <a:solidFill>
                  <a:srgbClr val="002E5C"/>
                </a:solidFill>
                <a:latin typeface="Times New Roman"/>
                <a:ea typeface="SimSun"/>
              </a:rPr>
              <a:t>2</a:t>
            </a:r>
            <a:r>
              <a:rPr lang="en-US" sz="815" b="1" dirty="0">
                <a:solidFill>
                  <a:srgbClr val="002E5C"/>
                </a:solidFill>
                <a:latin typeface="Times New Roman"/>
                <a:ea typeface="SimSun"/>
              </a:rPr>
              <a:t>, Andong Hu</a:t>
            </a:r>
            <a:r>
              <a:rPr lang="en-US" sz="815" b="1" baseline="30000" dirty="0">
                <a:solidFill>
                  <a:srgbClr val="002E5C"/>
                </a:solidFill>
                <a:latin typeface="Times New Roman"/>
                <a:ea typeface="SimSun"/>
              </a:rPr>
              <a:t>1</a:t>
            </a:r>
            <a:endParaRPr lang="en-US" sz="815" baseline="30000" dirty="0">
              <a:latin typeface="Arial"/>
            </a:endParaRPr>
          </a:p>
        </p:txBody>
      </p:sp>
      <p:sp>
        <p:nvSpPr>
          <p:cNvPr id="69" name="CustomShape 43"/>
          <p:cNvSpPr/>
          <p:nvPr/>
        </p:nvSpPr>
        <p:spPr>
          <a:xfrm>
            <a:off x="1404104" y="2207746"/>
            <a:ext cx="4586091" cy="162289"/>
          </a:xfrm>
          <a:prstGeom prst="rect">
            <a:avLst/>
          </a:prstGeom>
          <a:solidFill>
            <a:srgbClr val="B8C3D0"/>
          </a:solidFill>
          <a:ln w="0">
            <a:noFill/>
          </a:ln>
        </p:spPr>
        <p:style>
          <a:lnRef idx="0">
            <a:scrgbClr r="0" g="0" b="0"/>
          </a:lnRef>
          <a:fillRef idx="0">
            <a:scrgbClr r="0" g="0" b="0"/>
          </a:fillRef>
          <a:effectRef idx="0">
            <a:scrgbClr r="0" g="0" b="0"/>
          </a:effectRef>
          <a:fontRef idx="minor"/>
        </p:style>
        <p:txBody>
          <a:bodyPr lIns="22589" tIns="11335" rIns="22589" bIns="11335" anchor="t">
            <a:spAutoFit/>
          </a:bodyPr>
          <a:lstStyle/>
          <a:p>
            <a:pPr algn="ctr">
              <a:spcBef>
                <a:spcPts val="453"/>
              </a:spcBef>
            </a:pPr>
            <a:r>
              <a:rPr lang="en-US" sz="906" b="1">
                <a:solidFill>
                  <a:srgbClr val="002E5C"/>
                </a:solidFill>
                <a:latin typeface="Times New Roman"/>
                <a:ea typeface="宋体"/>
              </a:rPr>
              <a:t>Methodology	</a:t>
            </a:r>
            <a:endParaRPr lang="en-US" sz="906">
              <a:latin typeface="Arial"/>
            </a:endParaRPr>
          </a:p>
        </p:txBody>
      </p:sp>
      <p:pic>
        <p:nvPicPr>
          <p:cNvPr id="70" name="Picture 88"/>
          <p:cNvPicPr/>
          <p:nvPr/>
        </p:nvPicPr>
        <p:blipFill>
          <a:blip r:embed="rId3"/>
          <a:srcRect l="65942" b="44507"/>
          <a:stretch>
            <a:fillRect/>
          </a:stretch>
        </p:blipFill>
        <p:spPr>
          <a:xfrm>
            <a:off x="1467150" y="91226"/>
            <a:ext cx="653464" cy="449346"/>
          </a:xfrm>
          <a:prstGeom prst="rect">
            <a:avLst/>
          </a:prstGeom>
          <a:ln w="18360">
            <a:noFill/>
          </a:ln>
        </p:spPr>
      </p:pic>
      <p:sp>
        <p:nvSpPr>
          <p:cNvPr id="71" name="Rectangle 70"/>
          <p:cNvSpPr/>
          <p:nvPr/>
        </p:nvSpPr>
        <p:spPr>
          <a:xfrm>
            <a:off x="1951861" y="12640"/>
            <a:ext cx="1781332" cy="681088"/>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sz="408"/>
          </a:p>
        </p:txBody>
      </p:sp>
      <p:sp>
        <p:nvSpPr>
          <p:cNvPr id="5" name="TextBox 4">
            <a:extLst>
              <a:ext uri="{FF2B5EF4-FFF2-40B4-BE49-F238E27FC236}">
                <a16:creationId xmlns:a16="http://schemas.microsoft.com/office/drawing/2014/main" id="{CB1E9AE5-6A8C-5067-7D29-34B7F86232DE}"/>
              </a:ext>
            </a:extLst>
          </p:cNvPr>
          <p:cNvSpPr txBox="1"/>
          <p:nvPr/>
        </p:nvSpPr>
        <p:spPr>
          <a:xfrm>
            <a:off x="7511197" y="3065042"/>
            <a:ext cx="686406" cy="343427"/>
          </a:xfrm>
          <a:prstGeom prst="rect">
            <a:avLst/>
          </a:prstGeom>
          <a:noFill/>
        </p:spPr>
        <p:txBody>
          <a:bodyPr wrap="none" rtlCol="0">
            <a:spAutoFit/>
          </a:bodyPr>
          <a:lstStyle/>
          <a:p>
            <a:r>
              <a:rPr lang="en-US" sz="408" dirty="0"/>
              <a:t>Kp RMSE</a:t>
            </a:r>
          </a:p>
          <a:p>
            <a:r>
              <a:rPr lang="en-US" sz="408" dirty="0"/>
              <a:t>Kp RMSE during storm</a:t>
            </a:r>
          </a:p>
          <a:p>
            <a:r>
              <a:rPr lang="en-US" sz="408" dirty="0"/>
              <a:t>F10.7 Analysis</a:t>
            </a:r>
          </a:p>
          <a:p>
            <a:r>
              <a:rPr lang="en-US" sz="408" dirty="0"/>
              <a:t>Kp TSS</a:t>
            </a:r>
          </a:p>
        </p:txBody>
      </p:sp>
      <p:sp>
        <p:nvSpPr>
          <p:cNvPr id="6" name="TextBox 5">
            <a:extLst>
              <a:ext uri="{FF2B5EF4-FFF2-40B4-BE49-F238E27FC236}">
                <a16:creationId xmlns:a16="http://schemas.microsoft.com/office/drawing/2014/main" id="{8D098BCC-6DEE-3427-3DA7-55AF3BACAC0F}"/>
              </a:ext>
            </a:extLst>
          </p:cNvPr>
          <p:cNvSpPr txBox="1"/>
          <p:nvPr/>
        </p:nvSpPr>
        <p:spPr>
          <a:xfrm>
            <a:off x="7950965" y="6213950"/>
            <a:ext cx="660758" cy="155107"/>
          </a:xfrm>
          <a:prstGeom prst="rect">
            <a:avLst/>
          </a:prstGeom>
          <a:noFill/>
        </p:spPr>
        <p:txBody>
          <a:bodyPr wrap="none" rtlCol="0">
            <a:spAutoFit/>
          </a:bodyPr>
          <a:lstStyle/>
          <a:p>
            <a:r>
              <a:rPr lang="en-US" sz="408" dirty="0"/>
              <a:t>Establish benchmark</a:t>
            </a:r>
          </a:p>
        </p:txBody>
      </p:sp>
      <p:sp>
        <p:nvSpPr>
          <p:cNvPr id="2" name="TextBox 1">
            <a:extLst>
              <a:ext uri="{FF2B5EF4-FFF2-40B4-BE49-F238E27FC236}">
                <a16:creationId xmlns:a16="http://schemas.microsoft.com/office/drawing/2014/main" id="{2AC6E3F2-B232-0535-0067-339C7073F6E2}"/>
              </a:ext>
            </a:extLst>
          </p:cNvPr>
          <p:cNvSpPr txBox="1"/>
          <p:nvPr/>
        </p:nvSpPr>
        <p:spPr>
          <a:xfrm>
            <a:off x="2928213" y="1484023"/>
            <a:ext cx="2278448" cy="720069"/>
          </a:xfrm>
          <a:prstGeom prst="rect">
            <a:avLst/>
          </a:prstGeom>
          <a:noFill/>
        </p:spPr>
        <p:txBody>
          <a:bodyPr wrap="square" rtlCol="0">
            <a:spAutoFit/>
          </a:bodyPr>
          <a:lstStyle/>
          <a:p>
            <a:pPr marL="64722" indent="-64722">
              <a:buFont typeface="Arial" panose="020B0604020202020204" pitchFamily="34" charset="0"/>
              <a:buChar char="•"/>
            </a:pPr>
            <a:r>
              <a:rPr lang="en-US" sz="408" dirty="0"/>
              <a:t>Why Forecast verification is important</a:t>
            </a:r>
          </a:p>
          <a:p>
            <a:pPr marL="168278" lvl="1" indent="-64722">
              <a:buFont typeface="Arial" panose="020B0604020202020204" pitchFamily="34" charset="0"/>
              <a:buChar char="•"/>
            </a:pPr>
            <a:r>
              <a:rPr lang="en-US" sz="408" dirty="0"/>
              <a:t>Need to understand how well a forecast is performing in order to use it well</a:t>
            </a:r>
          </a:p>
          <a:p>
            <a:pPr marL="168278" lvl="1" indent="-64722">
              <a:buFont typeface="Arial" panose="020B0604020202020204" pitchFamily="34" charset="0"/>
              <a:buChar char="•"/>
            </a:pPr>
            <a:r>
              <a:rPr lang="en-US" sz="408" dirty="0"/>
              <a:t>Need to have models quantified so we can compare to new models that we are building</a:t>
            </a:r>
          </a:p>
          <a:p>
            <a:pPr marL="168278" lvl="1" indent="-64722">
              <a:buFont typeface="Arial" panose="020B0604020202020204" pitchFamily="34" charset="0"/>
              <a:buChar char="•"/>
            </a:pPr>
            <a:endParaRPr lang="en-US" sz="408" dirty="0"/>
          </a:p>
          <a:p>
            <a:pPr marL="64722" indent="-64722">
              <a:buFont typeface="Arial" panose="020B0604020202020204" pitchFamily="34" charset="0"/>
              <a:buChar char="•"/>
            </a:pPr>
            <a:r>
              <a:rPr lang="en-US" sz="408" dirty="0"/>
              <a:t>Background on space weather</a:t>
            </a:r>
          </a:p>
          <a:p>
            <a:pPr marL="168278" lvl="1" indent="-64722">
              <a:buFont typeface="Arial" panose="020B0604020202020204" pitchFamily="34" charset="0"/>
              <a:buChar char="•"/>
            </a:pPr>
            <a:r>
              <a:rPr lang="en-US" sz="408" dirty="0"/>
              <a:t>In space weather forecasting we don’t just want to predict what solar events will happen but also the impacts that the events will have on the earth and near earth environment</a:t>
            </a:r>
          </a:p>
          <a:p>
            <a:pPr marL="168278" lvl="1" indent="-64722">
              <a:buFont typeface="Arial" panose="020B0604020202020204" pitchFamily="34" charset="0"/>
              <a:buChar char="•"/>
            </a:pPr>
            <a:r>
              <a:rPr lang="en-US" sz="408" dirty="0"/>
              <a:t>Key part of this is predicting space weather drivers such as Kp index and F10.7</a:t>
            </a:r>
          </a:p>
        </p:txBody>
      </p:sp>
      <p:sp>
        <p:nvSpPr>
          <p:cNvPr id="3" name="TextBox 2">
            <a:extLst>
              <a:ext uri="{FF2B5EF4-FFF2-40B4-BE49-F238E27FC236}">
                <a16:creationId xmlns:a16="http://schemas.microsoft.com/office/drawing/2014/main" id="{F3E75AA3-C1DD-A23F-4737-454B8FBE0092}"/>
              </a:ext>
            </a:extLst>
          </p:cNvPr>
          <p:cNvSpPr txBox="1"/>
          <p:nvPr/>
        </p:nvSpPr>
        <p:spPr>
          <a:xfrm>
            <a:off x="1563670" y="2411192"/>
            <a:ext cx="3664786" cy="280654"/>
          </a:xfrm>
          <a:prstGeom prst="rect">
            <a:avLst/>
          </a:prstGeom>
          <a:noFill/>
        </p:spPr>
        <p:txBody>
          <a:bodyPr wrap="none" rtlCol="0">
            <a:spAutoFit/>
          </a:bodyPr>
          <a:lstStyle/>
          <a:p>
            <a:r>
              <a:rPr lang="en-US" sz="408" dirty="0"/>
              <a:t>SWPC releases a variety of reports containing various space weather information and forecasts. We focused on reports containing Kp and F10.7 Forecasts.</a:t>
            </a:r>
          </a:p>
          <a:p>
            <a:endParaRPr lang="en-US" sz="408" dirty="0"/>
          </a:p>
          <a:p>
            <a:r>
              <a:rPr lang="en-US" sz="408" dirty="0"/>
              <a:t>SWPC releases 3-day forecast of Kp and 7-day forecast of F10.7</a:t>
            </a:r>
          </a:p>
        </p:txBody>
      </p:sp>
      <p:sp>
        <p:nvSpPr>
          <p:cNvPr id="4" name="TextBox 3">
            <a:extLst>
              <a:ext uri="{FF2B5EF4-FFF2-40B4-BE49-F238E27FC236}">
                <a16:creationId xmlns:a16="http://schemas.microsoft.com/office/drawing/2014/main" id="{95A765B0-3DC8-AE86-19D1-22880652E92B}"/>
              </a:ext>
            </a:extLst>
          </p:cNvPr>
          <p:cNvSpPr txBox="1"/>
          <p:nvPr/>
        </p:nvSpPr>
        <p:spPr>
          <a:xfrm>
            <a:off x="1540501" y="3194196"/>
            <a:ext cx="1253869" cy="155107"/>
          </a:xfrm>
          <a:prstGeom prst="rect">
            <a:avLst/>
          </a:prstGeom>
          <a:noFill/>
        </p:spPr>
        <p:txBody>
          <a:bodyPr wrap="none" rtlCol="0">
            <a:spAutoFit/>
          </a:bodyPr>
          <a:lstStyle/>
          <a:p>
            <a:r>
              <a:rPr lang="en-US" sz="408" dirty="0"/>
              <a:t>Photo of availability of 3-day forecast and RSGA</a:t>
            </a:r>
          </a:p>
        </p:txBody>
      </p:sp>
      <p:sp>
        <p:nvSpPr>
          <p:cNvPr id="9" name="TextBox 8">
            <a:extLst>
              <a:ext uri="{FF2B5EF4-FFF2-40B4-BE49-F238E27FC236}">
                <a16:creationId xmlns:a16="http://schemas.microsoft.com/office/drawing/2014/main" id="{76D7C694-75D1-5D3A-4851-9D379D15547E}"/>
              </a:ext>
            </a:extLst>
          </p:cNvPr>
          <p:cNvSpPr txBox="1"/>
          <p:nvPr/>
        </p:nvSpPr>
        <p:spPr>
          <a:xfrm>
            <a:off x="1563669" y="2653959"/>
            <a:ext cx="2390398" cy="531749"/>
          </a:xfrm>
          <a:prstGeom prst="rect">
            <a:avLst/>
          </a:prstGeom>
          <a:noFill/>
        </p:spPr>
        <p:txBody>
          <a:bodyPr wrap="none" rtlCol="0">
            <a:spAutoFit/>
          </a:bodyPr>
          <a:lstStyle/>
          <a:p>
            <a:r>
              <a:rPr lang="en-US" sz="408" dirty="0"/>
              <a:t>To measure model performance we compute the RMSE between the forecast and the actual result</a:t>
            </a:r>
          </a:p>
          <a:p>
            <a:endParaRPr lang="en-US" sz="408" dirty="0"/>
          </a:p>
          <a:p>
            <a:r>
              <a:rPr lang="en-US" sz="408" dirty="0"/>
              <a:t>We also compute the true skill score</a:t>
            </a:r>
          </a:p>
          <a:p>
            <a:endParaRPr lang="en-US" sz="408" dirty="0"/>
          </a:p>
          <a:p>
            <a:r>
              <a:rPr lang="en-US" sz="408" dirty="0"/>
              <a:t>We examine report performance during all times and storm times Kp &gt; 5</a:t>
            </a:r>
          </a:p>
          <a:p>
            <a:endParaRPr lang="en-US" sz="408" dirty="0"/>
          </a:p>
          <a:p>
            <a:r>
              <a:rPr lang="en-US" sz="408" dirty="0"/>
              <a:t>We compare performance to low effort baseline models, persistence and recurrence</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623EADE8-6AFB-0387-11D7-9FB25D39B1E3}"/>
                  </a:ext>
                </a:extLst>
              </p:cNvPr>
              <p:cNvSpPr txBox="1"/>
              <p:nvPr/>
            </p:nvSpPr>
            <p:spPr>
              <a:xfrm>
                <a:off x="2013482" y="3336943"/>
                <a:ext cx="676724" cy="21140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08" i="1">
                          <a:latin typeface="Cambria Math" panose="02040503050406030204" pitchFamily="18" charset="0"/>
                        </a:rPr>
                        <m:t>𝑃𝑟𝑒𝑐𝑖𝑠𝑖𝑜𝑛</m:t>
                      </m:r>
                      <m:r>
                        <a:rPr lang="en-US" sz="408" i="1">
                          <a:latin typeface="Cambria Math" panose="02040503050406030204" pitchFamily="18" charset="0"/>
                        </a:rPr>
                        <m:t>=</m:t>
                      </m:r>
                      <m:f>
                        <m:fPr>
                          <m:ctrlPr>
                            <a:rPr lang="en-US" sz="408" i="1">
                              <a:latin typeface="Cambria Math" panose="02040503050406030204" pitchFamily="18" charset="0"/>
                            </a:rPr>
                          </m:ctrlPr>
                        </m:fPr>
                        <m:num>
                          <m:r>
                            <a:rPr lang="en-US" sz="408" i="1">
                              <a:latin typeface="Cambria Math" panose="02040503050406030204" pitchFamily="18" charset="0"/>
                            </a:rPr>
                            <m:t>𝑇𝑃</m:t>
                          </m:r>
                        </m:num>
                        <m:den>
                          <m:r>
                            <a:rPr lang="en-US" sz="408" i="1">
                              <a:latin typeface="Cambria Math" panose="02040503050406030204" pitchFamily="18" charset="0"/>
                            </a:rPr>
                            <m:t>𝑇𝑃</m:t>
                          </m:r>
                          <m:r>
                            <a:rPr lang="en-US" sz="408" i="1">
                              <a:latin typeface="Cambria Math" panose="02040503050406030204" pitchFamily="18" charset="0"/>
                            </a:rPr>
                            <m:t>+</m:t>
                          </m:r>
                          <m:r>
                            <a:rPr lang="en-US" sz="408" i="1">
                              <a:latin typeface="Cambria Math" panose="02040503050406030204" pitchFamily="18" charset="0"/>
                            </a:rPr>
                            <m:t>𝐹𝑃</m:t>
                          </m:r>
                        </m:den>
                      </m:f>
                    </m:oMath>
                  </m:oMathPara>
                </a14:m>
                <a:endParaRPr lang="en-US" sz="408" dirty="0"/>
              </a:p>
            </p:txBody>
          </p:sp>
        </mc:Choice>
        <mc:Fallback>
          <p:sp>
            <p:nvSpPr>
              <p:cNvPr id="10" name="TextBox 9">
                <a:extLst>
                  <a:ext uri="{FF2B5EF4-FFF2-40B4-BE49-F238E27FC236}">
                    <a16:creationId xmlns:a16="http://schemas.microsoft.com/office/drawing/2014/main" id="{623EADE8-6AFB-0387-11D7-9FB25D39B1E3}"/>
                  </a:ext>
                </a:extLst>
              </p:cNvPr>
              <p:cNvSpPr txBox="1">
                <a:spLocks noRot="1" noChangeAspect="1" noMove="1" noResize="1" noEditPoints="1" noAdjustHandles="1" noChangeArrowheads="1" noChangeShapeType="1" noTextEdit="1"/>
              </p:cNvSpPr>
              <p:nvPr/>
            </p:nvSpPr>
            <p:spPr>
              <a:xfrm>
                <a:off x="2013482" y="3336943"/>
                <a:ext cx="676724" cy="21140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35DB4931-17D9-52CD-9BF5-1D9EAD8AA4A8}"/>
                  </a:ext>
                </a:extLst>
              </p:cNvPr>
              <p:cNvSpPr txBox="1"/>
              <p:nvPr/>
            </p:nvSpPr>
            <p:spPr>
              <a:xfrm>
                <a:off x="2033066" y="3571997"/>
                <a:ext cx="422295" cy="1190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408" i="1">
                          <a:latin typeface="Cambria Math" panose="02040503050406030204" pitchFamily="18" charset="0"/>
                        </a:rPr>
                        <m:t>𝑅𝑒𝑐𝑎𝑙𝑙</m:t>
                      </m:r>
                      <m:r>
                        <a:rPr lang="en-US" sz="408" i="1">
                          <a:latin typeface="Cambria Math" panose="02040503050406030204" pitchFamily="18" charset="0"/>
                        </a:rPr>
                        <m:t>=</m:t>
                      </m:r>
                      <m:f>
                        <m:fPr>
                          <m:ctrlPr>
                            <a:rPr lang="en-US" sz="408" i="1">
                              <a:latin typeface="Cambria Math" panose="02040503050406030204" pitchFamily="18" charset="0"/>
                            </a:rPr>
                          </m:ctrlPr>
                        </m:fPr>
                        <m:num>
                          <m:r>
                            <a:rPr lang="en-US" sz="408" i="1">
                              <a:latin typeface="Cambria Math" panose="02040503050406030204" pitchFamily="18" charset="0"/>
                            </a:rPr>
                            <m:t>𝑇𝑃</m:t>
                          </m:r>
                        </m:num>
                        <m:den>
                          <m:r>
                            <a:rPr lang="en-US" sz="408" i="1">
                              <a:latin typeface="Cambria Math" panose="02040503050406030204" pitchFamily="18" charset="0"/>
                            </a:rPr>
                            <m:t>𝑇𝑃</m:t>
                          </m:r>
                          <m:r>
                            <a:rPr lang="en-US" sz="408" i="1">
                              <a:latin typeface="Cambria Math" panose="02040503050406030204" pitchFamily="18" charset="0"/>
                            </a:rPr>
                            <m:t>+</m:t>
                          </m:r>
                          <m:r>
                            <a:rPr lang="en-US" sz="408" i="1">
                              <a:latin typeface="Cambria Math" panose="02040503050406030204" pitchFamily="18" charset="0"/>
                            </a:rPr>
                            <m:t>𝐹𝑁</m:t>
                          </m:r>
                        </m:den>
                      </m:f>
                    </m:oMath>
                  </m:oMathPara>
                </a14:m>
                <a:endParaRPr lang="en-US" sz="408" dirty="0"/>
              </a:p>
            </p:txBody>
          </p:sp>
        </mc:Choice>
        <mc:Fallback>
          <p:sp>
            <p:nvSpPr>
              <p:cNvPr id="11" name="TextBox 10">
                <a:extLst>
                  <a:ext uri="{FF2B5EF4-FFF2-40B4-BE49-F238E27FC236}">
                    <a16:creationId xmlns:a16="http://schemas.microsoft.com/office/drawing/2014/main" id="{35DB4931-17D9-52CD-9BF5-1D9EAD8AA4A8}"/>
                  </a:ext>
                </a:extLst>
              </p:cNvPr>
              <p:cNvSpPr txBox="1">
                <a:spLocks noRot="1" noChangeAspect="1" noMove="1" noResize="1" noEditPoints="1" noAdjustHandles="1" noChangeArrowheads="1" noChangeShapeType="1" noTextEdit="1"/>
              </p:cNvSpPr>
              <p:nvPr/>
            </p:nvSpPr>
            <p:spPr>
              <a:xfrm>
                <a:off x="2033066" y="3571997"/>
                <a:ext cx="422295" cy="119072"/>
              </a:xfrm>
              <a:prstGeom prst="rect">
                <a:avLst/>
              </a:prstGeom>
              <a:blipFill>
                <a:blip r:embed="rId5"/>
                <a:stretch>
                  <a:fillRect l="-5882" t="-10000" b="-1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C6B4F6C6-A262-1CF9-C4F4-F8FEA530F0C5}"/>
                  </a:ext>
                </a:extLst>
              </p:cNvPr>
              <p:cNvSpPr txBox="1"/>
              <p:nvPr/>
            </p:nvSpPr>
            <p:spPr>
              <a:xfrm>
                <a:off x="1563670" y="3799092"/>
                <a:ext cx="1573636" cy="2258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08" i="1">
                          <a:latin typeface="Cambria Math" panose="02040503050406030204" pitchFamily="18" charset="0"/>
                        </a:rPr>
                        <m:t>𝑇𝑆𝑆</m:t>
                      </m:r>
                      <m:r>
                        <a:rPr lang="en-US" sz="408" i="1">
                          <a:latin typeface="Cambria Math" panose="02040503050406030204" pitchFamily="18" charset="0"/>
                        </a:rPr>
                        <m:t>=</m:t>
                      </m:r>
                      <m:f>
                        <m:fPr>
                          <m:ctrlPr>
                            <a:rPr lang="en-US" sz="408" i="1">
                              <a:latin typeface="Cambria Math" panose="02040503050406030204" pitchFamily="18" charset="0"/>
                            </a:rPr>
                          </m:ctrlPr>
                        </m:fPr>
                        <m:num>
                          <m:r>
                            <a:rPr lang="en-US" sz="408" i="1">
                              <a:latin typeface="Cambria Math" panose="02040503050406030204" pitchFamily="18" charset="0"/>
                            </a:rPr>
                            <m:t>𝑇𝑃</m:t>
                          </m:r>
                          <m:d>
                            <m:dPr>
                              <m:ctrlPr>
                                <a:rPr lang="en-US" sz="408" i="1">
                                  <a:latin typeface="Cambria Math" panose="02040503050406030204" pitchFamily="18" charset="0"/>
                                </a:rPr>
                              </m:ctrlPr>
                            </m:dPr>
                            <m:e>
                              <m:r>
                                <a:rPr lang="en-US" sz="408" i="1">
                                  <a:latin typeface="Cambria Math" panose="02040503050406030204" pitchFamily="18" charset="0"/>
                                </a:rPr>
                                <m:t>𝑇𝑁</m:t>
                              </m:r>
                              <m:r>
                                <a:rPr lang="en-US" sz="408" i="1">
                                  <a:latin typeface="Cambria Math" panose="02040503050406030204" pitchFamily="18" charset="0"/>
                                </a:rPr>
                                <m:t>+</m:t>
                              </m:r>
                              <m:r>
                                <a:rPr lang="en-US" sz="408" i="1">
                                  <a:latin typeface="Cambria Math" panose="02040503050406030204" pitchFamily="18" charset="0"/>
                                </a:rPr>
                                <m:t>𝐹𝑃</m:t>
                              </m:r>
                            </m:e>
                          </m:d>
                          <m:r>
                            <a:rPr lang="en-US" sz="408" i="1">
                              <a:latin typeface="Cambria Math" panose="02040503050406030204" pitchFamily="18" charset="0"/>
                            </a:rPr>
                            <m:t>+</m:t>
                          </m:r>
                          <m:r>
                            <a:rPr lang="en-US" sz="408" i="1">
                              <a:latin typeface="Cambria Math" panose="02040503050406030204" pitchFamily="18" charset="0"/>
                            </a:rPr>
                            <m:t>𝑇𝑁</m:t>
                          </m:r>
                          <m:d>
                            <m:dPr>
                              <m:ctrlPr>
                                <a:rPr lang="en-US" sz="408" i="1">
                                  <a:latin typeface="Cambria Math" panose="02040503050406030204" pitchFamily="18" charset="0"/>
                                </a:rPr>
                              </m:ctrlPr>
                            </m:dPr>
                            <m:e>
                              <m:r>
                                <a:rPr lang="en-US" sz="408" i="1">
                                  <a:latin typeface="Cambria Math" panose="02040503050406030204" pitchFamily="18" charset="0"/>
                                </a:rPr>
                                <m:t>𝑇𝑃</m:t>
                              </m:r>
                              <m:r>
                                <a:rPr lang="en-US" sz="408" i="1">
                                  <a:latin typeface="Cambria Math" panose="02040503050406030204" pitchFamily="18" charset="0"/>
                                </a:rPr>
                                <m:t>+</m:t>
                              </m:r>
                              <m:r>
                                <a:rPr lang="en-US" sz="408" i="1">
                                  <a:latin typeface="Cambria Math" panose="02040503050406030204" pitchFamily="18" charset="0"/>
                                </a:rPr>
                                <m:t>𝐹𝑁</m:t>
                              </m:r>
                            </m:e>
                          </m:d>
                          <m:r>
                            <a:rPr lang="en-US" sz="408" i="1">
                              <a:latin typeface="Cambria Math" panose="02040503050406030204" pitchFamily="18" charset="0"/>
                            </a:rPr>
                            <m:t>−(</m:t>
                          </m:r>
                          <m:r>
                            <a:rPr lang="en-US" sz="408" i="1">
                              <a:latin typeface="Cambria Math" panose="02040503050406030204" pitchFamily="18" charset="0"/>
                            </a:rPr>
                            <m:t>𝑇𝑃</m:t>
                          </m:r>
                          <m:r>
                            <a:rPr lang="en-US" sz="408" i="1">
                              <a:latin typeface="Cambria Math" panose="02040503050406030204" pitchFamily="18" charset="0"/>
                            </a:rPr>
                            <m:t>+</m:t>
                          </m:r>
                          <m:r>
                            <a:rPr lang="en-US" sz="408" i="1">
                              <a:latin typeface="Cambria Math" panose="02040503050406030204" pitchFamily="18" charset="0"/>
                            </a:rPr>
                            <m:t>𝐹𝑁</m:t>
                          </m:r>
                          <m:r>
                            <a:rPr lang="en-US" sz="408" i="1">
                              <a:latin typeface="Cambria Math" panose="02040503050406030204" pitchFamily="18" charset="0"/>
                            </a:rPr>
                            <m:t>)(</m:t>
                          </m:r>
                          <m:r>
                            <a:rPr lang="en-US" sz="408" i="1">
                              <a:latin typeface="Cambria Math" panose="02040503050406030204" pitchFamily="18" charset="0"/>
                            </a:rPr>
                            <m:t>𝑇𝑁</m:t>
                          </m:r>
                          <m:r>
                            <a:rPr lang="en-US" sz="408" i="1">
                              <a:latin typeface="Cambria Math" panose="02040503050406030204" pitchFamily="18" charset="0"/>
                            </a:rPr>
                            <m:t>+</m:t>
                          </m:r>
                          <m:r>
                            <a:rPr lang="en-US" sz="408" i="1">
                              <a:latin typeface="Cambria Math" panose="02040503050406030204" pitchFamily="18" charset="0"/>
                            </a:rPr>
                            <m:t>𝐹𝑃</m:t>
                          </m:r>
                          <m:r>
                            <a:rPr lang="en-US" sz="408" i="1">
                              <a:latin typeface="Cambria Math" panose="02040503050406030204" pitchFamily="18" charset="0"/>
                            </a:rPr>
                            <m:t>)</m:t>
                          </m:r>
                        </m:num>
                        <m:den>
                          <m:r>
                            <a:rPr lang="en-US" sz="408" i="1">
                              <a:latin typeface="Cambria Math" panose="02040503050406030204" pitchFamily="18" charset="0"/>
                            </a:rPr>
                            <m:t>(</m:t>
                          </m:r>
                          <m:r>
                            <a:rPr lang="en-US" sz="408" i="1">
                              <a:latin typeface="Cambria Math" panose="02040503050406030204" pitchFamily="18" charset="0"/>
                            </a:rPr>
                            <m:t>𝑇𝑃</m:t>
                          </m:r>
                          <m:r>
                            <a:rPr lang="en-US" sz="408" i="1">
                              <a:latin typeface="Cambria Math" panose="02040503050406030204" pitchFamily="18" charset="0"/>
                            </a:rPr>
                            <m:t>+</m:t>
                          </m:r>
                          <m:r>
                            <a:rPr lang="en-US" sz="408" i="1">
                              <a:latin typeface="Cambria Math" panose="02040503050406030204" pitchFamily="18" charset="0"/>
                            </a:rPr>
                            <m:t>𝐹𝑁</m:t>
                          </m:r>
                          <m:r>
                            <a:rPr lang="en-US" sz="408" i="1">
                              <a:latin typeface="Cambria Math" panose="02040503050406030204" pitchFamily="18" charset="0"/>
                            </a:rPr>
                            <m:t>)(</m:t>
                          </m:r>
                          <m:r>
                            <a:rPr lang="en-US" sz="408" i="1">
                              <a:latin typeface="Cambria Math" panose="02040503050406030204" pitchFamily="18" charset="0"/>
                            </a:rPr>
                            <m:t>𝑇𝑁</m:t>
                          </m:r>
                          <m:r>
                            <a:rPr lang="en-US" sz="408" i="1">
                              <a:latin typeface="Cambria Math" panose="02040503050406030204" pitchFamily="18" charset="0"/>
                            </a:rPr>
                            <m:t>+</m:t>
                          </m:r>
                          <m:r>
                            <a:rPr lang="en-US" sz="408" i="1">
                              <a:latin typeface="Cambria Math" panose="02040503050406030204" pitchFamily="18" charset="0"/>
                            </a:rPr>
                            <m:t>𝐹𝑃</m:t>
                          </m:r>
                          <m:r>
                            <a:rPr lang="en-US" sz="408" i="1">
                              <a:latin typeface="Cambria Math" panose="02040503050406030204" pitchFamily="18" charset="0"/>
                            </a:rPr>
                            <m:t>)</m:t>
                          </m:r>
                        </m:den>
                      </m:f>
                    </m:oMath>
                  </m:oMathPara>
                </a14:m>
                <a:endParaRPr lang="en-US" sz="408" dirty="0"/>
              </a:p>
            </p:txBody>
          </p:sp>
        </mc:Choice>
        <mc:Fallback>
          <p:sp>
            <p:nvSpPr>
              <p:cNvPr id="12" name="TextBox 11">
                <a:extLst>
                  <a:ext uri="{FF2B5EF4-FFF2-40B4-BE49-F238E27FC236}">
                    <a16:creationId xmlns:a16="http://schemas.microsoft.com/office/drawing/2014/main" id="{C6B4F6C6-A262-1CF9-C4F4-F8FEA530F0C5}"/>
                  </a:ext>
                </a:extLst>
              </p:cNvPr>
              <p:cNvSpPr txBox="1">
                <a:spLocks noRot="1" noChangeAspect="1" noMove="1" noResize="1" noEditPoints="1" noAdjustHandles="1" noChangeArrowheads="1" noChangeShapeType="1" noTextEdit="1"/>
              </p:cNvSpPr>
              <p:nvPr/>
            </p:nvSpPr>
            <p:spPr>
              <a:xfrm>
                <a:off x="1563670" y="3799092"/>
                <a:ext cx="1573636" cy="225831"/>
              </a:xfrm>
              <a:prstGeom prst="rect">
                <a:avLst/>
              </a:prstGeom>
              <a:blipFill>
                <a:blip r:embed="rId6"/>
                <a:stretch>
                  <a:fillRect/>
                </a:stretch>
              </a:blipFill>
            </p:spPr>
            <p:txBody>
              <a:bodyPr/>
              <a:lstStyle/>
              <a:p>
                <a:r>
                  <a:rPr lang="en-US">
                    <a:noFill/>
                  </a:rPr>
                  <a:t> </a:t>
                </a:r>
              </a:p>
            </p:txBody>
          </p:sp>
        </mc:Fallback>
      </mc:AlternateContent>
      <p:pic>
        <p:nvPicPr>
          <p:cNvPr id="14" name="Picture 13">
            <a:extLst>
              <a:ext uri="{FF2B5EF4-FFF2-40B4-BE49-F238E27FC236}">
                <a16:creationId xmlns:a16="http://schemas.microsoft.com/office/drawing/2014/main" id="{38702163-FB48-FC37-08AA-D86CB1AE624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955267" y="2670236"/>
            <a:ext cx="910238" cy="1295081"/>
          </a:xfrm>
          <a:prstGeom prst="rect">
            <a:avLst/>
          </a:prstGeom>
        </p:spPr>
      </p:pic>
      <p:pic>
        <p:nvPicPr>
          <p:cNvPr id="16" name="Picture 15">
            <a:extLst>
              <a:ext uri="{FF2B5EF4-FFF2-40B4-BE49-F238E27FC236}">
                <a16:creationId xmlns:a16="http://schemas.microsoft.com/office/drawing/2014/main" id="{25C88BC1-310D-520F-AAD3-FC16D037CB9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841845" y="3065042"/>
            <a:ext cx="1022608" cy="616851"/>
          </a:xfrm>
          <a:prstGeom prst="rect">
            <a:avLst/>
          </a:prstGeom>
        </p:spPr>
      </p:pic>
      <p:sp>
        <p:nvSpPr>
          <p:cNvPr id="17" name="TextBox 16">
            <a:extLst>
              <a:ext uri="{FF2B5EF4-FFF2-40B4-BE49-F238E27FC236}">
                <a16:creationId xmlns:a16="http://schemas.microsoft.com/office/drawing/2014/main" id="{68813FBC-4BD2-9F70-0CD0-E6FD01B1F1B0}"/>
              </a:ext>
            </a:extLst>
          </p:cNvPr>
          <p:cNvSpPr txBox="1"/>
          <p:nvPr/>
        </p:nvSpPr>
        <p:spPr>
          <a:xfrm>
            <a:off x="1856156" y="1154547"/>
            <a:ext cx="3895719" cy="280654"/>
          </a:xfrm>
          <a:prstGeom prst="rect">
            <a:avLst/>
          </a:prstGeom>
          <a:noFill/>
        </p:spPr>
        <p:txBody>
          <a:bodyPr wrap="square" rtlCol="0">
            <a:spAutoFit/>
          </a:bodyPr>
          <a:lstStyle/>
          <a:p>
            <a:r>
              <a:rPr lang="en-US" sz="408" dirty="0"/>
              <a:t>Forecast verification is the process used to quantify the performance of a forecast. It’s utility is two-fold. First, it allows both forecasters and end users to better understand the strengths and weaknesses of the forecast to make more informed decisions. Second, it allows those who develop forecasts to have a benchmark to compare to when determining if their forecast is better than the current operational forecasts.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435</Words>
  <Application>Microsoft Macintosh PowerPoint</Application>
  <PresentationFormat>Widescreen</PresentationFormat>
  <Paragraphs>39</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Aptos Display</vt:lpstr>
      <vt:lpstr>Arial</vt:lpstr>
      <vt:lpstr>Cambria Math</vt:lpstr>
      <vt:lpstr>Times new Roman</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Henry Jordan</dc:creator>
  <cp:lastModifiedBy>Henry Jordan</cp:lastModifiedBy>
  <cp:revision>1</cp:revision>
  <dcterms:created xsi:type="dcterms:W3CDTF">2026-07-07T17:02:14Z</dcterms:created>
  <dcterms:modified xsi:type="dcterms:W3CDTF">2026-07-07T17:02:41Z</dcterms:modified>
</cp:coreProperties>
</file>